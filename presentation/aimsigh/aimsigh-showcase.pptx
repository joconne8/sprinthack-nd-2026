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Aimsigh as our local prototype for Goodwill. All displayed records are synthetic. Labor and shipping inputs are invented demonstration assumptions. The live showcase has no external model or production Teams connection.</a:t>
            </a:r>
          </a:p>
          <a:p/>
          <a:p>
            <a:r>
              <a:t>Segment: The problem · 20 seconds</a:t>
            </a:r>
          </a:p>
          <a:p/>
          <a:p>
            <a:r>
              <a:t>DEMO PLAN · reviewed October 4, 2026</a:t>
            </a:r>
          </a:p>
          <a:p>
            <a:r>
              <a:t>https://docs.google.com/document/d/1jhTiJcOi1yoRKHGe-WMquckIWISXWdzmWe6NV3tbdFk/edit</a:t>
            </a:r>
          </a:p>
          <a:p>
            <a:r>
              <a:t>Aimsigh founder presentation · reference and nonbinding LOI context</a:t>
            </a:r>
          </a:p>
          <a:p>
            <a:r>
              <a:t>https://docs.google.com/presentation/d/1z-6jdYtqZ3t0SwIbbGc7pAyQ7cWptPXiYY-Tj7PNGLM/edit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spoke with operational stakeholders and technical mentors rather than starting with charts. Amanda now has an assistant; support cannot depend on the departed e-commerce manager. Cite the interview estimate, not measured savings. The founder deck describes nonbinding interest; do not imply that the scanned LOI establishes a purchased or authorized production pilot.</a:t>
            </a:r>
          </a:p>
          <a:p/>
          <a:p>
            <a:r>
              <a:t>Segment: The problem · 65 seconds</a:t>
            </a:r>
          </a:p>
          <a:p/>
          <a:p>
            <a:r>
              <a:t>Amanda Baumer interview · reported workflow and effort estimate</a:t>
            </a:r>
          </a:p>
          <a:p>
            <a:r>
              <a:t>https://drive.google.com/file/d/1WM1HJVAu_YF-Q48CQDa7SFwnPKg1FPlF/view</a:t>
            </a:r>
          </a:p>
          <a:p>
            <a:r>
              <a:t>Amanda2.0 · staffing correction</a:t>
            </a:r>
          </a:p>
          <a:p>
            <a:r>
              <a:t>https://docs.google.com/document/d/1yveSPTDJ4PUVi1MjMvCP6ovVtyVy-M7UGOeDdDngz7g/edit</a:t>
            </a:r>
          </a:p>
          <a:p>
            <a:r>
              <a:t>Aimsigh founder presentation · reference and nonbinding LOI context</a:t>
            </a:r>
          </a:p>
          <a:p>
            <a:r>
              <a:t>https://docs.google.com/presentation/d/1z-6jdYtqZ3t0SwIbbGc7pAyQ7cWptPXiYY-Tj7PNGLM/edit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reports are not nine revenue feeds. Upright and Cash Monkey are connected local replicas. Jewelry, shipping expenses, marketplace reports and settlement summaries have different meanings. The other seven are fixture examples or await approved access. We do not sum their amounts into our showcase revenue.</a:t>
            </a:r>
          </a:p>
          <a:p/>
          <a:p>
            <a:r>
              <a:t>Segment: The problem · 35 seconds</a:t>
            </a:r>
          </a:p>
          <a:p/>
          <a:p>
            <a:r>
              <a:t>Goodwill three-phase solution · corrected technical synthesis</a:t>
            </a:r>
          </a:p>
          <a:p>
            <a:r>
              <a:t>https://drive.google.com/file/d/1RffkmafbqbMEs7o_lNaTvIRL3hW9paai/view</a:t>
            </a:r>
          </a:p>
          <a:p>
            <a:r>
              <a:t>Corrected Goodwill track brief</a:t>
            </a:r>
          </a:p>
          <a:p>
            <a:r>
              <a:t>https://drive.google.com/file/d/1o0QBoew17f7IgEEHweBoe-VLQFGDEatg/view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live showcase Collect view. This is a screenshot-informed, functioning simulated portal. Restricted Upright API access is reported; the commercial reason is not confirmed. We are not bypassing a provider restriction. Model-free replay is distinct from optional probabilistic Jev decisions.</a:t>
            </a:r>
          </a:p>
          <a:p/>
          <a:p>
            <a:r>
              <a:t>Segment: Collect · 25 seconds</a:t>
            </a:r>
          </a:p>
          <a:p/>
          <a:p>
            <a:r>
              <a:t>DEMO PLAN · reviewed October 4, 2026</a:t>
            </a:r>
          </a:p>
          <a:p>
            <a:r>
              <a:t>https://docs.google.com/document/d/1jhTiJcOi1yoRKHGe-WMquckIWISXWdzmWe6NV3tbdFk/edit</a:t>
            </a:r>
          </a:p>
          <a:p>
            <a:r>
              <a:t>Amanda Baumer interview · reported workflow and effort estimate</a:t>
            </a:r>
          </a:p>
          <a:p>
            <a:r>
              <a:t>https://drive.google.com/file/d/1WM1HJVAu_YF-Q48CQDa7SFwnPKg1FPlF/view</a:t>
            </a:r>
          </a:p>
          <a:p>
            <a:r>
              <a:t>Goodwill three-phase solution · corrected technical synthesis</a:t>
            </a:r>
          </a:p>
          <a:p>
            <a:r>
              <a:t>https://drive.google.com/file/d/1RffkmafbqbMEs7o_lNaTvIRL3hW9paai/view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 the task in the embedded portal: navigate to the report, fill both dates, generate, wait for ready and download. Stop recording and review accessible control labels and parameter bindings. Approve the recipe. The recording is captured from user actions; it is not a video presented as a recorder. If the live state is unavailable, identify this screenshot as a previously verified capture.</a:t>
            </a:r>
          </a:p>
          <a:p/>
          <a:p>
            <a:r>
              <a:t>Segment: Collect · 110 seconds</a:t>
            </a:r>
          </a:p>
          <a:p/>
          <a:p>
            <a:r>
              <a:t>DEMO PLAN · reviewed October 4, 2026</a:t>
            </a:r>
          </a:p>
          <a:p>
            <a:r>
              <a:t>https://docs.google.com/document/d/1jhTiJcOi1yoRKHGe-WMquckIWISXWdzmWe6NV3tbdFk/edit</a:t>
            </a:r>
          </a:p>
          <a:p>
            <a:r>
              <a:t>Approved showcase-v1 interfaces and sample definitions</a:t>
            </a:r>
          </a:p>
          <a:p>
            <a:r>
              <a:t>https://github.com/joconne8/sprinthack-nd-2026/blob/peyton/aimsigh-showcase/reports/SHOWCASE/CONTRACT.md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rehearsal is already seeded through September 29. September 30 collection completes the month. Explain collection, verification, import and publication as separate states. Source records are explicitly disjoint in this fictional sample; this is not a claim that real marketplace reports never overlap. Cash Monkey unit rows and order counts retain their separate grains.</a:t>
            </a:r>
          </a:p>
          <a:p/>
          <a:p>
            <a:r>
              <a:t>Segment: Collect · 70 seconds</a:t>
            </a:r>
          </a:p>
          <a:p/>
          <a:p>
            <a:r>
              <a:t>DEMO PLAN · reviewed October 4, 2026</a:t>
            </a:r>
          </a:p>
          <a:p>
            <a:r>
              <a:t>https://docs.google.com/document/d/1jhTiJcOi1yoRKHGe-WMquckIWISXWdzmWe6NV3tbdFk/edit</a:t>
            </a:r>
          </a:p>
          <a:p>
            <a:r>
              <a:t>Approved showcase-v1 interfaces and sample definitions</a:t>
            </a:r>
          </a:p>
          <a:p>
            <a:r>
              <a:t>https://github.com/joconne8/sprinthack-nd-2026/blob/peyton/aimsigh-showcase/reports/SHOWCASE/CONTRACT.md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changed-label mode if time permits, then show the reviewed repair path. Do not claim that automation works forever or that typed AI output is financially correct. A separate scripted Jev mockup is not a real model call. No credentials or provider approval have been assumed.</a:t>
            </a:r>
          </a:p>
          <a:p/>
          <a:p>
            <a:r>
              <a:t>Segment: Collect · 35 seconds</a:t>
            </a:r>
          </a:p>
          <a:p/>
          <a:p>
            <a:r>
              <a:t>Goodwill three-phase solution · corrected technical synthesis</a:t>
            </a:r>
          </a:p>
          <a:p>
            <a:r>
              <a:t>https://drive.google.com/file/d/1RffkmafbqbMEs7o_lNaTvIRL3hW9paai/view</a:t>
            </a:r>
          </a:p>
          <a:p>
            <a:r>
              <a:t>TypeSafe · Jev probabilistic structured decisions</a:t>
            </a:r>
          </a:p>
          <a:p>
            <a:r>
              <a:t>https://typesafe.ai/blog/introducing-system-one-models-and-jev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reflects the actual Python/SQLite implementation. source_files archive checksummed bytes; import_batches and staging_rows retain reconciliation; sale_versions and metric_run_rows pin published records. Showcase snapshots pin both source publications and versioned labor/shipping inputs. A hosted PostgreSQL system is a future deployment choice, not what is running here.</a:t>
            </a:r>
          </a:p>
          <a:p/>
          <a:p>
            <a:r>
              <a:t>Segment: Verify &amp; deliver · 50 seconds</a:t>
            </a:r>
          </a:p>
          <a:p/>
          <a:p>
            <a:r>
              <a:t>Goodwill three-phase solution · corrected technical synthesis</a:t>
            </a:r>
          </a:p>
          <a:p>
            <a:r>
              <a:t>https://drive.google.com/file/d/1RffkmafbqbMEs7o_lNaTvIRL3hW9paai/view</a:t>
            </a:r>
          </a:p>
          <a:p>
            <a:r>
              <a:t>Approved showcase-v1 interfaces and sample definitions</a:t>
            </a:r>
          </a:p>
          <a:p>
            <a:r>
              <a:t>https://github.com/joconne8/sprinthack-nd-2026/blob/peyton/aimsigh-showcase/reports/SHOWCASE/CONTRACT.md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Download the workbook from the application. Open it in Excel if available or use the supplied preview, which reads the real exported OOXML cells. Show the monthly summary, a daily tab and source evidence. Backend calculations and cached workbook values reconcile. This output is not the approved month-end allocation workbook or a Business Central posting file. CSV plus a dictionary offers a bridge to existing Power BI.</a:t>
            </a:r>
          </a:p>
          <a:p/>
          <a:p>
            <a:r>
              <a:t>Segment: Verify &amp; deliver · 90 seconds</a:t>
            </a:r>
          </a:p>
          <a:p/>
          <a:p>
            <a:r>
              <a:t>DEMO PLAN · reviewed October 4, 2026</a:t>
            </a:r>
          </a:p>
          <a:p>
            <a:r>
              <a:t>https://docs.google.com/document/d/1jhTiJcOi1yoRKHGe-WMquckIWISXWdzmWe6NV3tbdFk/edit</a:t>
            </a:r>
          </a:p>
          <a:p>
            <a:r>
              <a:t>Amanda Baumer interview · reported workflow and effort estimate</a:t>
            </a:r>
          </a:p>
          <a:p>
            <a:r>
              <a:t>https://drive.google.com/file/d/1WM1HJVAu_YF-Q48CQDa7SFwnPKg1FPlF/view</a:t>
            </a:r>
          </a:p>
          <a:p>
            <a:r>
              <a:t>Approved showcase-v1 interfaces and sample definitions</a:t>
            </a:r>
          </a:p>
          <a:p>
            <a:r>
              <a:t>https://github.com/joconne8/sprinthack-nd-2026/blob/peyton/aimsigh-showcase/reports/SHOWCASE/CONTRACT.md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Missing inputs remain unavailable. Contribution margin is a demonstration measure, not approved production net margin. Labor is allocated by source/store/day, not platform; a platform filter therefore makes labor-dependent metrics unavailable. Distinct customers retain supported source/platform scopes. The August inventory example is separately dated and is never joined to these September sales.</a:t>
            </a:r>
          </a:p>
          <a:p/>
          <a:p>
            <a:r>
              <a:t>Segment: Verify &amp; deliver · 40 seconds</a:t>
            </a:r>
          </a:p>
          <a:p/>
          <a:p>
            <a:r>
              <a:t>Goodwill three-phase solution · corrected technical synthesis</a:t>
            </a:r>
          </a:p>
          <a:p>
            <a:r>
              <a:t>https://drive.google.com/file/d/1RffkmafbqbMEs7o_lNaTvIRL3hW9paai/view</a:t>
            </a:r>
          </a:p>
          <a:p>
            <a:r>
              <a:t>Approved showcase-v1 interfaces and sample definitions</a:t>
            </a:r>
          </a:p>
          <a:p>
            <a:r>
              <a:t>https://github.com/joconne8/sprinthack-nd-2026/blob/peyton/aimsigh-showcase/reports/SHOWCASE/CONTRACT.md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Understand. Change a source or store filter and show the chart/cards/evidence updating together. Explain what the chart can and cannot establish. September sell-through, year-over-year growth and production net margin remain unavailable without their required inputs. Inventory examples use their own August view. This is our local dashboard, not a native Power BI or Superset deployment.</a:t>
            </a:r>
          </a:p>
          <a:p/>
          <a:p>
            <a:r>
              <a:t>Segment: Understand · 90 seconds</a:t>
            </a:r>
          </a:p>
          <a:p/>
          <a:p>
            <a:r>
              <a:t>Corrected Goodwill track brief</a:t>
            </a:r>
          </a:p>
          <a:p>
            <a:r>
              <a:t>https://drive.google.com/file/d/1o0QBoew17f7IgEEHweBoe-VLQFGDEatg/view</a:t>
            </a:r>
          </a:p>
          <a:p>
            <a:r>
              <a:t>Approved showcase-v1 interfaces and sample definitions</a:t>
            </a:r>
          </a:p>
          <a:p>
            <a:r>
              <a:t>https://github.com/joconne8/sprinthack-nd-2026/blob/peyton/aimsigh-showcase/reports/SHOWCASE/CONTRACT.md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intended controls are net sales $60,727.56 / 420 hours = $144.59 per hour, versus $61,706.64 / 588 hours = $104.94 per hour. Show the values returned by the final tested application. This demonstrates an arithmetic driver in fictional data. It does not prove real staffing inefficiency or a causal business explanation. Source filters apply to both periods consistently.</a:t>
            </a:r>
          </a:p>
          <a:p/>
          <a:p>
            <a:r>
              <a:t>Segment: Understand · 60 seconds</a:t>
            </a:r>
          </a:p>
          <a:p/>
          <a:p>
            <a:r>
              <a:t>Approved showcase-v1 interfaces and sample definitions</a:t>
            </a:r>
          </a:p>
          <a:p>
            <a:r>
              <a:t>https://github.com/joconne8/sprinthack-nd-2026/blob/peyton/aimsigh-showcase/reports/SHOWCASE/CONTRACT.md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productivity question, follow a source citation and open labor input evidence. Then show an unsupported question returning supported alternatives rather than inventing a number or cause. The channel is a local prototype, not a Teams tenant integration. Answers use tested metrics/comparison/evidence tools and templates, with no Copilot, LLM, RAG or external model call. A real Copilot/Teams adapter requires tenant and security approval.</a:t>
            </a:r>
          </a:p>
          <a:p/>
          <a:p>
            <a:r>
              <a:t>Segment: Understand · 90 seconds</a:t>
            </a:r>
          </a:p>
          <a:p/>
          <a:p>
            <a:r>
              <a:t>DEMO PLAN · reviewed October 4, 2026</a:t>
            </a:r>
          </a:p>
          <a:p>
            <a:r>
              <a:t>https://docs.google.com/document/d/1jhTiJcOi1yoRKHGe-WMquckIWISXWdzmWe6NV3tbdFk/edit</a:t>
            </a:r>
          </a:p>
          <a:p>
            <a:r>
              <a:t>Goodwill three-phase solution · corrected technical synthesis</a:t>
            </a:r>
          </a:p>
          <a:p>
            <a:r>
              <a:t>https://drive.google.com/file/d/1RffkmafbqbMEs7o_lNaTvIRL3hW9paai/view</a:t>
            </a:r>
          </a:p>
          <a:p>
            <a:r>
              <a:t>Approved showcase-v1 interfaces and sample definitions</a:t>
            </a:r>
          </a:p>
          <a:p>
            <a:r>
              <a:t>https://github.com/joconne8/sprinthack-nd-2026/blob/peyton/aimsigh-showcase/reports/SHOWCASE/CONTRACT.md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Nonbinding LOI interest is the starting point, not approval to deploy. Managed databases and Superset are alternatives with hosting/maintenance requirements, not guaranteed faster or free operation. Accounting-close automation requires separate finance mappings, validation and approval. We have not measured ROI. Pilot success needs a baseline and named process/IT owners.</a:t>
            </a:r>
          </a:p>
          <a:p/>
          <a:p>
            <a:r>
              <a:t>Segment: Pilot · 85 seconds</a:t>
            </a:r>
          </a:p>
          <a:p/>
          <a:p>
            <a:r>
              <a:t>Aimsigh founder presentation · reference and nonbinding LOI context</a:t>
            </a:r>
          </a:p>
          <a:p>
            <a:r>
              <a:t>https://docs.google.com/presentation/d/1z-6jdYtqZ3t0SwIbbGc7pAyQ7cWptPXiYY-Tj7PNGLM/edit</a:t>
            </a:r>
          </a:p>
          <a:p>
            <a:r>
              <a:t>Goodwill three-phase solution · corrected technical synthesis</a:t>
            </a:r>
          </a:p>
          <a:p>
            <a:r>
              <a:t>https://drive.google.com/file/d/1RffkmafbqbMEs7o_lNaTvIRL3hW9paai/view</a:t>
            </a:r>
          </a:p>
          <a:p>
            <a:r>
              <a:t>Amanda Baumer interview · reported workflow and effort estimate</a:t>
            </a:r>
          </a:p>
          <a:p>
            <a:r>
              <a:t>https://drive.google.com/file/d/1WM1HJVAu_YF-Q48CQDa7SFwnPKg1FPlF/view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what the working application showed. Offer the code, workbook, HTML/PDF/PowerPoint deck and narrated recorded walkthrough. The backup video is labelled as a recording. Final human acceptance and organizer submission are separate. Repository: github.com/joconne8/sprinthack-nd-2026.</a:t>
            </a:r>
          </a:p>
          <a:p/>
          <a:p>
            <a:r>
              <a:t>Segment: Pilot · 35 seconds</a:t>
            </a:r>
          </a:p>
          <a:p/>
          <a:p>
            <a:r>
              <a:t>DEMO PLAN · reviewed October 4, 2026</a:t>
            </a:r>
          </a:p>
          <a:p>
            <a:r>
              <a:t>https://docs.google.com/document/d/1jhTiJcOi1yoRKHGe-WMquckIWISXWdzmWe6NV3tbdFk/edit</a:t>
            </a:r>
          </a:p>
          <a:p>
            <a:r>
              <a:t>Approved showcase-v1 interfaces and sample definitions</a:t>
            </a:r>
          </a:p>
          <a:p>
            <a:r>
              <a:t>https://github.com/joconne8/sprinthack-nd-2026/blob/peyton/aimsigh-showcase/reports/SHOWCASE/CONTRACT.md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804672" y="594360"/>
            <a:ext cx="12801600" cy="365760"/>
          </a:xfrm>
          <a:prstGeom prst="rect">
            <a:avLst/>
          </a:prstGeom>
          <a:noFill/>
        </p:spPr>
        <p:txBody>
          <a:bodyPr wrap="square">
            <a:spAutoFit/>
          </a:bodyPr>
          <a:lstStyle/>
          <a:p>
            <a:pPr>
              <a:defRPr sz="1600" b="1">
                <a:solidFill>
                  <a:srgbClr val="2E7D5B"/>
                </a:solidFill>
                <a:latin typeface="Arial"/>
              </a:defRPr>
            </a:pPr>
            <a:r>
              <a:t>AIMSIGH · GOODWILL MICHIANA</a:t>
            </a:r>
          </a:p>
        </p:txBody>
      </p:sp>
      <p:sp>
        <p:nvSpPr>
          <p:cNvPr id="3" name="TextBox 2"/>
          <p:cNvSpPr txBox="1"/>
          <p:nvPr/>
        </p:nvSpPr>
        <p:spPr>
          <a:xfrm>
            <a:off x="804672" y="1371600"/>
            <a:ext cx="12801600" cy="3291840"/>
          </a:xfrm>
          <a:prstGeom prst="rect">
            <a:avLst/>
          </a:prstGeom>
          <a:noFill/>
        </p:spPr>
        <p:txBody>
          <a:bodyPr wrap="square">
            <a:spAutoFit/>
          </a:bodyPr>
          <a:lstStyle/>
          <a:p>
            <a:pPr>
              <a:defRPr sz="7200" b="0">
                <a:solidFill>
                  <a:srgbClr val="1C2521"/>
                </a:solidFill>
                <a:latin typeface="Georgia"/>
              </a:defRPr>
            </a:pPr>
            <a:r>
              <a:t>From report chasing</a:t>
            </a:r>
          </a:p>
          <a:p>
            <a:pPr>
              <a:defRPr sz="7200" b="0">
                <a:solidFill>
                  <a:srgbClr val="1C2521"/>
                </a:solidFill>
                <a:latin typeface="Georgia"/>
              </a:defRPr>
            </a:pPr>
            <a:r>
              <a:t>to a clearer daily picture.</a:t>
            </a:r>
          </a:p>
        </p:txBody>
      </p:sp>
      <p:sp>
        <p:nvSpPr>
          <p:cNvPr id="4" name="TextBox 3"/>
          <p:cNvSpPr txBox="1"/>
          <p:nvPr/>
        </p:nvSpPr>
        <p:spPr>
          <a:xfrm>
            <a:off x="804672" y="4754880"/>
            <a:ext cx="12618720" cy="1920240"/>
          </a:xfrm>
          <a:prstGeom prst="rect">
            <a:avLst/>
          </a:prstGeom>
          <a:noFill/>
        </p:spPr>
        <p:txBody>
          <a:bodyPr wrap="square">
            <a:spAutoFit/>
          </a:bodyPr>
          <a:lstStyle/>
          <a:p>
            <a:pPr>
              <a:defRPr sz="2500" b="0">
                <a:solidFill>
                  <a:srgbClr val="5D655F"/>
                </a:solidFill>
                <a:latin typeface="Arial"/>
              </a:defRPr>
            </a:pPr>
            <a:r>
              <a:t>Teach a workflow once. Keep the proof. Put answers beside the dashboard.</a:t>
            </a:r>
          </a:p>
        </p:txBody>
      </p:sp>
      <p:sp>
        <p:nvSpPr>
          <p:cNvPr id="5" name="TextBox 4"/>
          <p:cNvSpPr txBox="1"/>
          <p:nvPr/>
        </p:nvSpPr>
        <p:spPr>
          <a:xfrm>
            <a:off x="804672" y="6446520"/>
            <a:ext cx="12801600" cy="731520"/>
          </a:xfrm>
          <a:prstGeom prst="rect">
            <a:avLst/>
          </a:prstGeom>
          <a:noFill/>
        </p:spPr>
        <p:txBody>
          <a:bodyPr wrap="square">
            <a:spAutoFit/>
          </a:bodyPr>
          <a:lstStyle/>
          <a:p>
            <a:pPr>
              <a:defRPr sz="2300" b="0">
                <a:solidFill>
                  <a:srgbClr val="2E7D5B"/>
                </a:solidFill>
                <a:latin typeface="Arial"/>
              </a:defRPr>
            </a:pPr>
            <a:r>
              <a:t>COLLECT  →  VERIFY &amp; DELIVER  →  UNDERSTAND</a:t>
            </a:r>
          </a:p>
        </p:txBody>
      </p:sp>
      <p:sp>
        <p:nvSpPr>
          <p:cNvPr id="6" name="TextBox 5"/>
          <p:cNvSpPr txBox="1"/>
          <p:nvPr/>
        </p:nvSpPr>
        <p:spPr>
          <a:xfrm>
            <a:off x="804672" y="7699248"/>
            <a:ext cx="11887200" cy="274320"/>
          </a:xfrm>
          <a:prstGeom prst="rect">
            <a:avLst/>
          </a:prstGeom>
          <a:noFill/>
        </p:spPr>
        <p:txBody>
          <a:bodyPr wrap="square">
            <a:spAutoFit/>
          </a:bodyPr>
          <a:lstStyle/>
          <a:p>
            <a:pPr>
              <a:defRPr sz="1100" b="0">
                <a:solidFill>
                  <a:srgbClr val="5D655F"/>
                </a:solidFill>
                <a:latin typeface="Arial"/>
              </a:defRPr>
            </a:pPr>
            <a:r>
              <a:t>Sources: DEMO · PITCH   |   AIMSIGH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804672" y="594360"/>
            <a:ext cx="12801600" cy="365760"/>
          </a:xfrm>
          <a:prstGeom prst="rect">
            <a:avLst/>
          </a:prstGeom>
          <a:noFill/>
        </p:spPr>
        <p:txBody>
          <a:bodyPr wrap="square">
            <a:spAutoFit/>
          </a:bodyPr>
          <a:lstStyle/>
          <a:p>
            <a:pPr>
              <a:defRPr sz="1600" b="1">
                <a:solidFill>
                  <a:srgbClr val="2E7D5B"/>
                </a:solidFill>
                <a:latin typeface="Arial"/>
              </a:defRPr>
            </a:pPr>
            <a:r>
              <a:t>START WITH THE PEOPLE</a:t>
            </a:r>
          </a:p>
        </p:txBody>
      </p:sp>
      <p:sp>
        <p:nvSpPr>
          <p:cNvPr id="3" name="TextBox 2"/>
          <p:cNvSpPr txBox="1"/>
          <p:nvPr/>
        </p:nvSpPr>
        <p:spPr>
          <a:xfrm>
            <a:off x="804672" y="1143000"/>
            <a:ext cx="12801600" cy="2194560"/>
          </a:xfrm>
          <a:prstGeom prst="rect">
            <a:avLst/>
          </a:prstGeom>
          <a:noFill/>
        </p:spPr>
        <p:txBody>
          <a:bodyPr wrap="square">
            <a:spAutoFit/>
          </a:bodyPr>
          <a:lstStyle/>
          <a:p>
            <a:pPr>
              <a:defRPr sz="6200" b="0">
                <a:solidFill>
                  <a:srgbClr val="1C2521"/>
                </a:solidFill>
                <a:latin typeface="Georgia"/>
              </a:defRPr>
            </a:pPr>
            <a:r>
              <a:t>The dashboard problem</a:t>
            </a:r>
          </a:p>
          <a:p>
            <a:pPr>
              <a:defRPr sz="6200" b="0">
                <a:solidFill>
                  <a:srgbClr val="1C2521"/>
                </a:solidFill>
                <a:latin typeface="Georgia"/>
              </a:defRPr>
            </a:pPr>
            <a:r>
              <a:t>starts before the dashboard.</a:t>
            </a:r>
          </a:p>
        </p:txBody>
      </p:sp>
      <p:sp>
        <p:nvSpPr>
          <p:cNvPr id="4" name="TextBox 3"/>
          <p:cNvSpPr txBox="1"/>
          <p:nvPr/>
        </p:nvSpPr>
        <p:spPr>
          <a:xfrm>
            <a:off x="804672" y="3063240"/>
            <a:ext cx="12618720" cy="1920240"/>
          </a:xfrm>
          <a:prstGeom prst="rect">
            <a:avLst/>
          </a:prstGeom>
          <a:noFill/>
        </p:spPr>
        <p:txBody>
          <a:bodyPr wrap="square">
            <a:spAutoFit/>
          </a:bodyPr>
          <a:lstStyle/>
          <a:p>
            <a:pPr>
              <a:defRPr sz="2500" b="0">
                <a:solidFill>
                  <a:srgbClr val="5D655F"/>
                </a:solidFill>
                <a:latin typeface="Arial"/>
              </a:defRPr>
            </a:pPr>
            <a:r>
              <a:t>Amanda needs reports to arrive. Debie needs dependable visibility. Manual retrieval and consolidation connect the two.</a:t>
            </a:r>
          </a:p>
        </p:txBody>
      </p:sp>
      <p:sp>
        <p:nvSpPr>
          <p:cNvPr id="5" name="Rounded Rectangle 4"/>
          <p:cNvSpPr/>
          <p:nvPr/>
        </p:nvSpPr>
        <p:spPr>
          <a:xfrm>
            <a:off x="804672" y="4315968"/>
            <a:ext cx="4160520" cy="2423160"/>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4526280"/>
            <a:ext cx="3675887" cy="548640"/>
          </a:xfrm>
          <a:prstGeom prst="rect">
            <a:avLst/>
          </a:prstGeom>
          <a:noFill/>
        </p:spPr>
        <p:txBody>
          <a:bodyPr wrap="square">
            <a:spAutoFit/>
          </a:bodyPr>
          <a:lstStyle/>
          <a:p>
            <a:pPr>
              <a:defRPr sz="2700" b="0">
                <a:solidFill>
                  <a:srgbClr val="1C2521"/>
                </a:solidFill>
                <a:latin typeface="Georgia"/>
              </a:defRPr>
            </a:pPr>
            <a:r>
              <a:t>Amanda</a:t>
            </a:r>
          </a:p>
        </p:txBody>
      </p:sp>
      <p:sp>
        <p:nvSpPr>
          <p:cNvPr id="7" name="TextBox 6"/>
          <p:cNvSpPr txBox="1"/>
          <p:nvPr/>
        </p:nvSpPr>
        <p:spPr>
          <a:xfrm>
            <a:off x="1033271" y="5212080"/>
            <a:ext cx="3675887" cy="1307592"/>
          </a:xfrm>
          <a:prstGeom prst="rect">
            <a:avLst/>
          </a:prstGeom>
          <a:noFill/>
        </p:spPr>
        <p:txBody>
          <a:bodyPr wrap="square">
            <a:spAutoFit/>
          </a:bodyPr>
          <a:lstStyle/>
          <a:p>
            <a:pPr>
              <a:defRPr sz="2000" b="0">
                <a:solidFill>
                  <a:srgbClr val="5D655F"/>
                </a:solidFill>
                <a:latin typeface="Arial"/>
              </a:defRPr>
            </a:pPr>
            <a:r>
              <a:t>Upright is the repeated, date-changing task. Her 30–45 minute estimate includes interruptions.</a:t>
            </a:r>
          </a:p>
        </p:txBody>
      </p:sp>
      <p:sp>
        <p:nvSpPr>
          <p:cNvPr id="8" name="Rounded Rectangle 7"/>
          <p:cNvSpPr/>
          <p:nvPr/>
        </p:nvSpPr>
        <p:spPr>
          <a:xfrm>
            <a:off x="5212080" y="4315968"/>
            <a:ext cx="4160520" cy="2423160"/>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40680" y="4526280"/>
            <a:ext cx="3675887" cy="548640"/>
          </a:xfrm>
          <a:prstGeom prst="rect">
            <a:avLst/>
          </a:prstGeom>
          <a:noFill/>
        </p:spPr>
        <p:txBody>
          <a:bodyPr wrap="square">
            <a:spAutoFit/>
          </a:bodyPr>
          <a:lstStyle/>
          <a:p>
            <a:pPr>
              <a:defRPr sz="2700" b="0">
                <a:solidFill>
                  <a:srgbClr val="1C2521"/>
                </a:solidFill>
                <a:latin typeface="Georgia"/>
              </a:defRPr>
            </a:pPr>
            <a:r>
              <a:t>The handoff</a:t>
            </a:r>
          </a:p>
        </p:txBody>
      </p:sp>
      <p:sp>
        <p:nvSpPr>
          <p:cNvPr id="10" name="TextBox 9"/>
          <p:cNvSpPr txBox="1"/>
          <p:nvPr/>
        </p:nvSpPr>
        <p:spPr>
          <a:xfrm>
            <a:off x="5440680" y="5212080"/>
            <a:ext cx="3675887" cy="1307592"/>
          </a:xfrm>
          <a:prstGeom prst="rect">
            <a:avLst/>
          </a:prstGeom>
          <a:noFill/>
        </p:spPr>
        <p:txBody>
          <a:bodyPr wrap="square">
            <a:spAutoFit/>
          </a:bodyPr>
          <a:lstStyle/>
          <a:p>
            <a:pPr>
              <a:defRPr sz="2000" b="0">
                <a:solidFill>
                  <a:srgbClr val="5D655F"/>
                </a:solidFill>
                <a:latin typeface="Arial"/>
              </a:defRPr>
            </a:pPr>
            <a:r>
              <a:t>Reports feed Excel, Sonia’s summary and existing Power BI. Compatible delivery matters.</a:t>
            </a:r>
          </a:p>
        </p:txBody>
      </p:sp>
      <p:sp>
        <p:nvSpPr>
          <p:cNvPr id="11" name="Rounded Rectangle 10"/>
          <p:cNvSpPr/>
          <p:nvPr/>
        </p:nvSpPr>
        <p:spPr>
          <a:xfrm>
            <a:off x="9619488" y="4315968"/>
            <a:ext cx="4160520" cy="2423160"/>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48088" y="4526280"/>
            <a:ext cx="3675887" cy="548640"/>
          </a:xfrm>
          <a:prstGeom prst="rect">
            <a:avLst/>
          </a:prstGeom>
          <a:noFill/>
        </p:spPr>
        <p:txBody>
          <a:bodyPr wrap="square">
            <a:spAutoFit/>
          </a:bodyPr>
          <a:lstStyle/>
          <a:p>
            <a:pPr>
              <a:defRPr sz="2700" b="0">
                <a:solidFill>
                  <a:srgbClr val="1C2521"/>
                </a:solidFill>
                <a:latin typeface="Georgia"/>
              </a:defRPr>
            </a:pPr>
            <a:r>
              <a:t>The commitment</a:t>
            </a:r>
          </a:p>
        </p:txBody>
      </p:sp>
      <p:sp>
        <p:nvSpPr>
          <p:cNvPr id="13" name="TextBox 12"/>
          <p:cNvSpPr txBox="1"/>
          <p:nvPr/>
        </p:nvSpPr>
        <p:spPr>
          <a:xfrm>
            <a:off x="9848088" y="5212080"/>
            <a:ext cx="3675887" cy="1307592"/>
          </a:xfrm>
          <a:prstGeom prst="rect">
            <a:avLst/>
          </a:prstGeom>
          <a:noFill/>
        </p:spPr>
        <p:txBody>
          <a:bodyPr wrap="square">
            <a:spAutoFit/>
          </a:bodyPr>
          <a:lstStyle/>
          <a:p>
            <a:pPr>
              <a:defRPr sz="2000" b="0">
                <a:solidFill>
                  <a:srgbClr val="5D655F"/>
                </a:solidFill>
                <a:latin typeface="Arial"/>
              </a:defRPr>
            </a:pPr>
            <a:r>
              <a:t>Amanda’s nonbinding LOI expresses interest. Access, a pilot and purchase are not approved.</a:t>
            </a:r>
          </a:p>
        </p:txBody>
      </p:sp>
      <p:sp>
        <p:nvSpPr>
          <p:cNvPr id="14" name="TextBox 13"/>
          <p:cNvSpPr txBox="1"/>
          <p:nvPr/>
        </p:nvSpPr>
        <p:spPr>
          <a:xfrm>
            <a:off x="804672" y="7699248"/>
            <a:ext cx="11887200" cy="274320"/>
          </a:xfrm>
          <a:prstGeom prst="rect">
            <a:avLst/>
          </a:prstGeom>
          <a:noFill/>
        </p:spPr>
        <p:txBody>
          <a:bodyPr wrap="square">
            <a:spAutoFit/>
          </a:bodyPr>
          <a:lstStyle/>
          <a:p>
            <a:pPr>
              <a:defRPr sz="1100" b="0">
                <a:solidFill>
                  <a:srgbClr val="5D655F"/>
                </a:solidFill>
                <a:latin typeface="Arial"/>
              </a:defRPr>
            </a:pPr>
            <a:r>
              <a:t>Sources: AMANDA · FOLLOWUP · PITCH   |   AIMSIGH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804672" y="594360"/>
            <a:ext cx="12801600" cy="365760"/>
          </a:xfrm>
          <a:prstGeom prst="rect">
            <a:avLst/>
          </a:prstGeom>
          <a:noFill/>
        </p:spPr>
        <p:txBody>
          <a:bodyPr wrap="square">
            <a:spAutoFit/>
          </a:bodyPr>
          <a:lstStyle/>
          <a:p>
            <a:pPr>
              <a:defRPr sz="1600" b="1">
                <a:solidFill>
                  <a:srgbClr val="2E7D5B"/>
                </a:solidFill>
                <a:latin typeface="Arial"/>
              </a:defRPr>
            </a:pPr>
            <a:r>
              <a:t>NINE REPORTS · REUSABLE ACQUISITION CLASSES</a:t>
            </a:r>
          </a:p>
        </p:txBody>
      </p:sp>
      <p:sp>
        <p:nvSpPr>
          <p:cNvPr id="3" name="TextBox 2"/>
          <p:cNvSpPr txBox="1"/>
          <p:nvPr/>
        </p:nvSpPr>
        <p:spPr>
          <a:xfrm>
            <a:off x="804672" y="1143000"/>
            <a:ext cx="12801600" cy="2194560"/>
          </a:xfrm>
          <a:prstGeom prst="rect">
            <a:avLst/>
          </a:prstGeom>
          <a:noFill/>
        </p:spPr>
        <p:txBody>
          <a:bodyPr wrap="square">
            <a:spAutoFit/>
          </a:bodyPr>
          <a:lstStyle/>
          <a:p>
            <a:pPr>
              <a:defRPr sz="6200" b="0">
                <a:solidFill>
                  <a:srgbClr val="1C2521"/>
                </a:solidFill>
                <a:latin typeface="Georgia"/>
              </a:defRPr>
            </a:pPr>
            <a:r>
              <a:t>Bring fragmented reports</a:t>
            </a:r>
          </a:p>
          <a:p>
            <a:pPr>
              <a:defRPr sz="6200" b="0">
                <a:solidFill>
                  <a:srgbClr val="1C2521"/>
                </a:solidFill>
                <a:latin typeface="Georgia"/>
              </a:defRPr>
            </a:pPr>
            <a:r>
              <a:t>into a controlled workflow.</a:t>
            </a:r>
          </a:p>
        </p:txBody>
      </p:sp>
      <p:sp>
        <p:nvSpPr>
          <p:cNvPr id="4" name="TextBox 3"/>
          <p:cNvSpPr txBox="1"/>
          <p:nvPr/>
        </p:nvSpPr>
        <p:spPr>
          <a:xfrm>
            <a:off x="804672" y="3063240"/>
            <a:ext cx="12618720" cy="1920240"/>
          </a:xfrm>
          <a:prstGeom prst="rect">
            <a:avLst/>
          </a:prstGeom>
          <a:noFill/>
        </p:spPr>
        <p:txBody>
          <a:bodyPr wrap="square">
            <a:spAutoFit/>
          </a:bodyPr>
          <a:lstStyle/>
          <a:p>
            <a:pPr>
              <a:defRPr sz="2500" b="0">
                <a:solidFill>
                  <a:srgbClr val="5D655F"/>
                </a:solidFill>
                <a:latin typeface="Arial"/>
              </a:defRPr>
            </a:pPr>
            <a:r>
              <a:t>Share acquisition mechanisms. Keep source meaning, parsing and overlap rules specific.</a:t>
            </a:r>
          </a:p>
        </p:txBody>
      </p:sp>
      <p:sp>
        <p:nvSpPr>
          <p:cNvPr id="5" name="Rounded Rectangle 4"/>
          <p:cNvSpPr/>
          <p:nvPr/>
        </p:nvSpPr>
        <p:spPr>
          <a:xfrm>
            <a:off x="804672" y="3776472"/>
            <a:ext cx="4160520" cy="932688"/>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1832" y="3813048"/>
            <a:ext cx="3840480" cy="274320"/>
          </a:xfrm>
          <a:prstGeom prst="rect">
            <a:avLst/>
          </a:prstGeom>
          <a:noFill/>
        </p:spPr>
        <p:txBody>
          <a:bodyPr wrap="square">
            <a:spAutoFit/>
          </a:bodyPr>
          <a:lstStyle/>
          <a:p>
            <a:pPr>
              <a:defRPr sz="1300" b="1">
                <a:solidFill>
                  <a:srgbClr val="2E7D5B"/>
                </a:solidFill>
                <a:latin typeface="Arial"/>
              </a:defRPr>
            </a:pPr>
            <a:r>
              <a:t>Upright · connected local replica</a:t>
            </a:r>
          </a:p>
        </p:txBody>
      </p:sp>
      <p:sp>
        <p:nvSpPr>
          <p:cNvPr id="7" name="TextBox 6"/>
          <p:cNvSpPr txBox="1"/>
          <p:nvPr/>
        </p:nvSpPr>
        <p:spPr>
          <a:xfrm>
            <a:off x="941832" y="4142232"/>
            <a:ext cx="3840480" cy="548640"/>
          </a:xfrm>
          <a:prstGeom prst="rect">
            <a:avLst/>
          </a:prstGeom>
          <a:noFill/>
        </p:spPr>
        <p:txBody>
          <a:bodyPr wrap="square">
            <a:spAutoFit/>
          </a:bodyPr>
          <a:lstStyle/>
          <a:p>
            <a:pPr>
              <a:defRPr sz="1700" b="0">
                <a:solidFill>
                  <a:srgbClr val="5D655F"/>
                </a:solidFill>
                <a:latin typeface="Arial"/>
              </a:defRPr>
            </a:pPr>
            <a:r>
              <a:t>Paid-order sales · portal initiation</a:t>
            </a:r>
          </a:p>
        </p:txBody>
      </p:sp>
      <p:sp>
        <p:nvSpPr>
          <p:cNvPr id="8" name="Rounded Rectangle 7"/>
          <p:cNvSpPr/>
          <p:nvPr/>
        </p:nvSpPr>
        <p:spPr>
          <a:xfrm>
            <a:off x="5212080" y="3776472"/>
            <a:ext cx="4160520" cy="932688"/>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49240" y="3813048"/>
            <a:ext cx="3840480" cy="274320"/>
          </a:xfrm>
          <a:prstGeom prst="rect">
            <a:avLst/>
          </a:prstGeom>
          <a:noFill/>
        </p:spPr>
        <p:txBody>
          <a:bodyPr wrap="square">
            <a:spAutoFit/>
          </a:bodyPr>
          <a:lstStyle/>
          <a:p>
            <a:pPr>
              <a:defRPr sz="1300" b="1">
                <a:solidFill>
                  <a:srgbClr val="2E7D5B"/>
                </a:solidFill>
                <a:latin typeface="Arial"/>
              </a:defRPr>
            </a:pPr>
            <a:r>
              <a:t>Cash Monkey · connected local replica</a:t>
            </a:r>
          </a:p>
        </p:txBody>
      </p:sp>
      <p:sp>
        <p:nvSpPr>
          <p:cNvPr id="10" name="TextBox 9"/>
          <p:cNvSpPr txBox="1"/>
          <p:nvPr/>
        </p:nvSpPr>
        <p:spPr>
          <a:xfrm>
            <a:off x="5349240" y="4142232"/>
            <a:ext cx="3840480" cy="548640"/>
          </a:xfrm>
          <a:prstGeom prst="rect">
            <a:avLst/>
          </a:prstGeom>
          <a:noFill/>
        </p:spPr>
        <p:txBody>
          <a:bodyPr wrap="square">
            <a:spAutoFit/>
          </a:bodyPr>
          <a:lstStyle/>
          <a:p>
            <a:pPr>
              <a:defRPr sz="1700" b="0">
                <a:solidFill>
                  <a:srgbClr val="5D655F"/>
                </a:solidFill>
                <a:latin typeface="Arial"/>
              </a:defRPr>
            </a:pPr>
            <a:r>
              <a:t>Unit/order sales · portal CSV export</a:t>
            </a:r>
          </a:p>
        </p:txBody>
      </p:sp>
      <p:sp>
        <p:nvSpPr>
          <p:cNvPr id="11" name="Rounded Rectangle 10"/>
          <p:cNvSpPr/>
          <p:nvPr/>
        </p:nvSpPr>
        <p:spPr>
          <a:xfrm>
            <a:off x="9619488" y="3776472"/>
            <a:ext cx="4160520" cy="932688"/>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56648" y="3813048"/>
            <a:ext cx="3840480" cy="274320"/>
          </a:xfrm>
          <a:prstGeom prst="rect">
            <a:avLst/>
          </a:prstGeom>
          <a:noFill/>
        </p:spPr>
        <p:txBody>
          <a:bodyPr wrap="square">
            <a:spAutoFit/>
          </a:bodyPr>
          <a:lstStyle/>
          <a:p>
            <a:pPr>
              <a:defRPr sz="1300" b="1">
                <a:solidFill>
                  <a:srgbClr val="2E7D5B"/>
                </a:solidFill>
                <a:latin typeface="Arial"/>
              </a:defRPr>
            </a:pPr>
            <a:r>
              <a:t>Jewelry · fixture / access pending</a:t>
            </a:r>
          </a:p>
        </p:txBody>
      </p:sp>
      <p:sp>
        <p:nvSpPr>
          <p:cNvPr id="13" name="TextBox 12"/>
          <p:cNvSpPr txBox="1"/>
          <p:nvPr/>
        </p:nvSpPr>
        <p:spPr>
          <a:xfrm>
            <a:off x="9756648" y="4142232"/>
            <a:ext cx="3840480" cy="548640"/>
          </a:xfrm>
          <a:prstGeom prst="rect">
            <a:avLst/>
          </a:prstGeom>
          <a:noFill/>
        </p:spPr>
        <p:txBody>
          <a:bodyPr wrap="square">
            <a:spAutoFit/>
          </a:bodyPr>
          <a:lstStyle/>
          <a:p>
            <a:pPr>
              <a:defRPr sz="1700" b="0">
                <a:solidFill>
                  <a:srgbClr val="5D655F"/>
                </a:solidFill>
                <a:latin typeface="Arial"/>
              </a:defRPr>
            </a:pPr>
            <a:r>
              <a:t>Provided report · mappings unconfirmed</a:t>
            </a:r>
          </a:p>
        </p:txBody>
      </p:sp>
      <p:sp>
        <p:nvSpPr>
          <p:cNvPr id="14" name="Rounded Rectangle 13"/>
          <p:cNvSpPr/>
          <p:nvPr/>
        </p:nvSpPr>
        <p:spPr>
          <a:xfrm>
            <a:off x="804672" y="4800600"/>
            <a:ext cx="4160520" cy="932688"/>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4837176"/>
            <a:ext cx="3840480" cy="274320"/>
          </a:xfrm>
          <a:prstGeom prst="rect">
            <a:avLst/>
          </a:prstGeom>
          <a:noFill/>
        </p:spPr>
        <p:txBody>
          <a:bodyPr wrap="square">
            <a:spAutoFit/>
          </a:bodyPr>
          <a:lstStyle/>
          <a:p>
            <a:pPr>
              <a:defRPr sz="1300" b="1">
                <a:solidFill>
                  <a:srgbClr val="2E7D5B"/>
                </a:solidFill>
                <a:latin typeface="Arial"/>
              </a:defRPr>
            </a:pPr>
            <a:r>
              <a:t>OSM / PB / EasyPost · fixture / access pending</a:t>
            </a:r>
          </a:p>
        </p:txBody>
      </p:sp>
      <p:sp>
        <p:nvSpPr>
          <p:cNvPr id="16" name="TextBox 15"/>
          <p:cNvSpPr txBox="1"/>
          <p:nvPr/>
        </p:nvSpPr>
        <p:spPr>
          <a:xfrm>
            <a:off x="941832" y="5166360"/>
            <a:ext cx="3840480" cy="548640"/>
          </a:xfrm>
          <a:prstGeom prst="rect">
            <a:avLst/>
          </a:prstGeom>
          <a:noFill/>
        </p:spPr>
        <p:txBody>
          <a:bodyPr wrap="square">
            <a:spAutoFit/>
          </a:bodyPr>
          <a:lstStyle/>
          <a:p>
            <a:pPr>
              <a:defRPr sz="1700" b="0">
                <a:solidFill>
                  <a:srgbClr val="5D655F"/>
                </a:solidFill>
                <a:latin typeface="Arial"/>
              </a:defRPr>
            </a:pPr>
            <a:r>
              <a:t>Shipping expenses · export or lookup</a:t>
            </a:r>
          </a:p>
        </p:txBody>
      </p:sp>
      <p:sp>
        <p:nvSpPr>
          <p:cNvPr id="17" name="Rounded Rectangle 16"/>
          <p:cNvSpPr/>
          <p:nvPr/>
        </p:nvSpPr>
        <p:spPr>
          <a:xfrm>
            <a:off x="5212080" y="4800600"/>
            <a:ext cx="4160520" cy="932688"/>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9240" y="4837176"/>
            <a:ext cx="3840480" cy="274320"/>
          </a:xfrm>
          <a:prstGeom prst="rect">
            <a:avLst/>
          </a:prstGeom>
          <a:noFill/>
        </p:spPr>
        <p:txBody>
          <a:bodyPr wrap="square">
            <a:spAutoFit/>
          </a:bodyPr>
          <a:lstStyle/>
          <a:p>
            <a:pPr>
              <a:defRPr sz="1300" b="1">
                <a:solidFill>
                  <a:srgbClr val="2E7D5B"/>
                </a:solidFill>
                <a:latin typeface="Arial"/>
              </a:defRPr>
            </a:pPr>
            <a:r>
              <a:t>FedEx · fixture / access pending</a:t>
            </a:r>
          </a:p>
        </p:txBody>
      </p:sp>
      <p:sp>
        <p:nvSpPr>
          <p:cNvPr id="19" name="TextBox 18"/>
          <p:cNvSpPr txBox="1"/>
          <p:nvPr/>
        </p:nvSpPr>
        <p:spPr>
          <a:xfrm>
            <a:off x="5349240" y="5166360"/>
            <a:ext cx="3840480" cy="548640"/>
          </a:xfrm>
          <a:prstGeom prst="rect">
            <a:avLst/>
          </a:prstGeom>
          <a:noFill/>
        </p:spPr>
        <p:txBody>
          <a:bodyPr wrap="square">
            <a:spAutoFit/>
          </a:bodyPr>
          <a:lstStyle/>
          <a:p>
            <a:pPr>
              <a:defRPr sz="1700" b="0">
                <a:solidFill>
                  <a:srgbClr val="5D655F"/>
                </a:solidFill>
                <a:latin typeface="Arial"/>
              </a:defRPr>
            </a:pPr>
            <a:r>
              <a:t>Charges and refunds · expense control</a:t>
            </a:r>
          </a:p>
        </p:txBody>
      </p:sp>
      <p:sp>
        <p:nvSpPr>
          <p:cNvPr id="20" name="Rounded Rectangle 19"/>
          <p:cNvSpPr/>
          <p:nvPr/>
        </p:nvSpPr>
        <p:spPr>
          <a:xfrm>
            <a:off x="9619488" y="4800600"/>
            <a:ext cx="4160520" cy="932688"/>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56648" y="4837176"/>
            <a:ext cx="3840480" cy="274320"/>
          </a:xfrm>
          <a:prstGeom prst="rect">
            <a:avLst/>
          </a:prstGeom>
          <a:noFill/>
        </p:spPr>
        <p:txBody>
          <a:bodyPr wrap="square">
            <a:spAutoFit/>
          </a:bodyPr>
          <a:lstStyle/>
          <a:p>
            <a:pPr>
              <a:defRPr sz="1300" b="1">
                <a:solidFill>
                  <a:srgbClr val="2E7D5B"/>
                </a:solidFill>
                <a:latin typeface="Arial"/>
              </a:defRPr>
            </a:pPr>
            <a:r>
              <a:t>ShopGoodwill · fixture / access pending</a:t>
            </a:r>
          </a:p>
        </p:txBody>
      </p:sp>
      <p:sp>
        <p:nvSpPr>
          <p:cNvPr id="22" name="TextBox 21"/>
          <p:cNvSpPr txBox="1"/>
          <p:nvPr/>
        </p:nvSpPr>
        <p:spPr>
          <a:xfrm>
            <a:off x="9756648" y="5166360"/>
            <a:ext cx="3840480" cy="548640"/>
          </a:xfrm>
          <a:prstGeom prst="rect">
            <a:avLst/>
          </a:prstGeom>
          <a:noFill/>
        </p:spPr>
        <p:txBody>
          <a:bodyPr wrap="square">
            <a:spAutoFit/>
          </a:bodyPr>
          <a:lstStyle/>
          <a:p>
            <a:pPr>
              <a:defRPr sz="1700" b="0">
                <a:solidFill>
                  <a:srgbClr val="5D655F"/>
                </a:solidFill>
                <a:latin typeface="Arial"/>
              </a:defRPr>
            </a:pPr>
            <a:r>
              <a:t>Marketplace report · overlap review</a:t>
            </a:r>
          </a:p>
        </p:txBody>
      </p:sp>
      <p:sp>
        <p:nvSpPr>
          <p:cNvPr id="23" name="Rounded Rectangle 22"/>
          <p:cNvSpPr/>
          <p:nvPr/>
        </p:nvSpPr>
        <p:spPr>
          <a:xfrm>
            <a:off x="804672" y="5824728"/>
            <a:ext cx="4160520" cy="932688"/>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2" y="5861304"/>
            <a:ext cx="3840480" cy="274320"/>
          </a:xfrm>
          <a:prstGeom prst="rect">
            <a:avLst/>
          </a:prstGeom>
          <a:noFill/>
        </p:spPr>
        <p:txBody>
          <a:bodyPr wrap="square">
            <a:spAutoFit/>
          </a:bodyPr>
          <a:lstStyle/>
          <a:p>
            <a:pPr>
              <a:defRPr sz="1300" b="1">
                <a:solidFill>
                  <a:srgbClr val="2E7D5B"/>
                </a:solidFill>
                <a:latin typeface="Arial"/>
              </a:defRPr>
            </a:pPr>
            <a:r>
              <a:t>Goodwill Books · fixture / access pending</a:t>
            </a:r>
          </a:p>
        </p:txBody>
      </p:sp>
      <p:sp>
        <p:nvSpPr>
          <p:cNvPr id="25" name="TextBox 24"/>
          <p:cNvSpPr txBox="1"/>
          <p:nvPr/>
        </p:nvSpPr>
        <p:spPr>
          <a:xfrm>
            <a:off x="941832" y="6190488"/>
            <a:ext cx="3840480" cy="548640"/>
          </a:xfrm>
          <a:prstGeom prst="rect">
            <a:avLst/>
          </a:prstGeom>
          <a:noFill/>
        </p:spPr>
        <p:txBody>
          <a:bodyPr wrap="square">
            <a:spAutoFit/>
          </a:bodyPr>
          <a:lstStyle/>
          <a:p>
            <a:pPr>
              <a:defRPr sz="1700" b="0">
                <a:solidFill>
                  <a:srgbClr val="5D655F"/>
                </a:solidFill>
                <a:latin typeface="Arial"/>
              </a:defRPr>
            </a:pPr>
            <a:r>
              <a:t>Monthly statement · settlement control</a:t>
            </a:r>
          </a:p>
        </p:txBody>
      </p:sp>
      <p:sp>
        <p:nvSpPr>
          <p:cNvPr id="26" name="Rounded Rectangle 25"/>
          <p:cNvSpPr/>
          <p:nvPr/>
        </p:nvSpPr>
        <p:spPr>
          <a:xfrm>
            <a:off x="5212080" y="5824728"/>
            <a:ext cx="4160520" cy="932688"/>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49240" y="5861304"/>
            <a:ext cx="3840480" cy="274320"/>
          </a:xfrm>
          <a:prstGeom prst="rect">
            <a:avLst/>
          </a:prstGeom>
          <a:noFill/>
        </p:spPr>
        <p:txBody>
          <a:bodyPr wrap="square">
            <a:spAutoFit/>
          </a:bodyPr>
          <a:lstStyle/>
          <a:p>
            <a:pPr>
              <a:defRPr sz="1300" b="1">
                <a:solidFill>
                  <a:srgbClr val="2E7D5B"/>
                </a:solidFill>
                <a:latin typeface="Arial"/>
              </a:defRPr>
            </a:pPr>
            <a:r>
              <a:t>eBay · fixture / access pending</a:t>
            </a:r>
          </a:p>
        </p:txBody>
      </p:sp>
      <p:sp>
        <p:nvSpPr>
          <p:cNvPr id="28" name="TextBox 27"/>
          <p:cNvSpPr txBox="1"/>
          <p:nvPr/>
        </p:nvSpPr>
        <p:spPr>
          <a:xfrm>
            <a:off x="5349240" y="6190488"/>
            <a:ext cx="3840480" cy="548640"/>
          </a:xfrm>
          <a:prstGeom prst="rect">
            <a:avLst/>
          </a:prstGeom>
          <a:noFill/>
        </p:spPr>
        <p:txBody>
          <a:bodyPr wrap="square">
            <a:spAutoFit/>
          </a:bodyPr>
          <a:lstStyle/>
          <a:p>
            <a:pPr>
              <a:defRPr sz="1700" b="0">
                <a:solidFill>
                  <a:srgbClr val="5D655F"/>
                </a:solidFill>
                <a:latin typeface="Arial"/>
              </a:defRPr>
            </a:pPr>
            <a:r>
              <a:t>Marketplace report · overlap review</a:t>
            </a:r>
          </a:p>
        </p:txBody>
      </p:sp>
      <p:sp>
        <p:nvSpPr>
          <p:cNvPr id="29" name="Rounded Rectangle 28"/>
          <p:cNvSpPr/>
          <p:nvPr/>
        </p:nvSpPr>
        <p:spPr>
          <a:xfrm>
            <a:off x="9619488" y="5824728"/>
            <a:ext cx="4160520" cy="932688"/>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56648" y="5861304"/>
            <a:ext cx="3840480" cy="274320"/>
          </a:xfrm>
          <a:prstGeom prst="rect">
            <a:avLst/>
          </a:prstGeom>
          <a:noFill/>
        </p:spPr>
        <p:txBody>
          <a:bodyPr wrap="square">
            <a:spAutoFit/>
          </a:bodyPr>
          <a:lstStyle/>
          <a:p>
            <a:pPr>
              <a:defRPr sz="1300" b="1">
                <a:solidFill>
                  <a:srgbClr val="2E7D5B"/>
                </a:solidFill>
                <a:latin typeface="Arial"/>
              </a:defRPr>
            </a:pPr>
            <a:r>
              <a:t>Amazon · fixture / access pending</a:t>
            </a:r>
          </a:p>
        </p:txBody>
      </p:sp>
      <p:sp>
        <p:nvSpPr>
          <p:cNvPr id="31" name="TextBox 30"/>
          <p:cNvSpPr txBox="1"/>
          <p:nvPr/>
        </p:nvSpPr>
        <p:spPr>
          <a:xfrm>
            <a:off x="9756648" y="6190488"/>
            <a:ext cx="3840480" cy="548640"/>
          </a:xfrm>
          <a:prstGeom prst="rect">
            <a:avLst/>
          </a:prstGeom>
          <a:noFill/>
        </p:spPr>
        <p:txBody>
          <a:bodyPr wrap="square">
            <a:spAutoFit/>
          </a:bodyPr>
          <a:lstStyle/>
          <a:p>
            <a:pPr>
              <a:defRPr sz="1700" b="0">
                <a:solidFill>
                  <a:srgbClr val="5D655F"/>
                </a:solidFill>
                <a:latin typeface="Arial"/>
              </a:defRPr>
            </a:pPr>
            <a:r>
              <a:t>Payment summary · settlement control</a:t>
            </a:r>
          </a:p>
        </p:txBody>
      </p:sp>
      <p:sp>
        <p:nvSpPr>
          <p:cNvPr id="32" name="TextBox 31"/>
          <p:cNvSpPr txBox="1"/>
          <p:nvPr/>
        </p:nvSpPr>
        <p:spPr>
          <a:xfrm>
            <a:off x="804672" y="7699248"/>
            <a:ext cx="11887200" cy="274320"/>
          </a:xfrm>
          <a:prstGeom prst="rect">
            <a:avLst/>
          </a:prstGeom>
          <a:noFill/>
        </p:spPr>
        <p:txBody>
          <a:bodyPr wrap="square">
            <a:spAutoFit/>
          </a:bodyPr>
          <a:lstStyle/>
          <a:p>
            <a:pPr>
              <a:defRPr sz="1100" b="0">
                <a:solidFill>
                  <a:srgbClr val="5D655F"/>
                </a:solidFill>
                <a:latin typeface="Arial"/>
              </a:defRPr>
            </a:pPr>
            <a:r>
              <a:t>Sources: PLAN · BRIEF   |   AIMSIGH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804672" y="594360"/>
            <a:ext cx="12801600" cy="365760"/>
          </a:xfrm>
          <a:prstGeom prst="rect">
            <a:avLst/>
          </a:prstGeom>
          <a:noFill/>
        </p:spPr>
        <p:txBody>
          <a:bodyPr wrap="square">
            <a:spAutoFit/>
          </a:bodyPr>
          <a:lstStyle/>
          <a:p>
            <a:pPr>
              <a:defRPr sz="1600" b="1">
                <a:solidFill>
                  <a:srgbClr val="2E7D5B"/>
                </a:solidFill>
                <a:latin typeface="Arial"/>
              </a:defRPr>
            </a:pPr>
            <a:r>
              <a:t>01 · COLLECT</a:t>
            </a:r>
          </a:p>
        </p:txBody>
      </p:sp>
      <p:sp>
        <p:nvSpPr>
          <p:cNvPr id="3" name="TextBox 2"/>
          <p:cNvSpPr txBox="1"/>
          <p:nvPr/>
        </p:nvSpPr>
        <p:spPr>
          <a:xfrm>
            <a:off x="804672" y="1143000"/>
            <a:ext cx="12801600" cy="2194560"/>
          </a:xfrm>
          <a:prstGeom prst="rect">
            <a:avLst/>
          </a:prstGeom>
          <a:noFill/>
        </p:spPr>
        <p:txBody>
          <a:bodyPr wrap="square">
            <a:spAutoFit/>
          </a:bodyPr>
          <a:lstStyle/>
          <a:p>
            <a:pPr>
              <a:defRPr sz="6200" b="0">
                <a:solidFill>
                  <a:srgbClr val="1C2521"/>
                </a:solidFill>
                <a:latin typeface="Georgia"/>
              </a:defRPr>
            </a:pPr>
            <a:r>
              <a:t>Teach the task once.</a:t>
            </a:r>
          </a:p>
          <a:p>
            <a:pPr>
              <a:defRPr sz="6200" b="0">
                <a:solidFill>
                  <a:srgbClr val="1C2521"/>
                </a:solidFill>
                <a:latin typeface="Georgia"/>
              </a:defRPr>
            </a:pPr>
            <a:r>
              <a:t>Change the dates next time.</a:t>
            </a:r>
          </a:p>
        </p:txBody>
      </p:sp>
      <p:sp>
        <p:nvSpPr>
          <p:cNvPr id="4" name="TextBox 3"/>
          <p:cNvSpPr txBox="1"/>
          <p:nvPr/>
        </p:nvSpPr>
        <p:spPr>
          <a:xfrm>
            <a:off x="804672" y="3063240"/>
            <a:ext cx="12618720" cy="1920240"/>
          </a:xfrm>
          <a:prstGeom prst="rect">
            <a:avLst/>
          </a:prstGeom>
          <a:noFill/>
        </p:spPr>
        <p:txBody>
          <a:bodyPr wrap="square">
            <a:spAutoFit/>
          </a:bodyPr>
          <a:lstStyle/>
          <a:p>
            <a:pPr>
              <a:defRPr sz="2500" b="0">
                <a:solidFill>
                  <a:srgbClr val="5D655F"/>
                </a:solidFill>
                <a:latin typeface="Arial"/>
              </a:defRPr>
            </a:pPr>
            <a:r>
              <a:t>Reports → Paid orders → Dates → Generate → Ready → Download.</a:t>
            </a:r>
          </a:p>
        </p:txBody>
      </p:sp>
      <p:sp>
        <p:nvSpPr>
          <p:cNvPr id="5" name="Rounded Rectangle 4"/>
          <p:cNvSpPr/>
          <p:nvPr/>
        </p:nvSpPr>
        <p:spPr>
          <a:xfrm>
            <a:off x="804672" y="4315968"/>
            <a:ext cx="4160520" cy="2423160"/>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4526280"/>
            <a:ext cx="3675887" cy="548640"/>
          </a:xfrm>
          <a:prstGeom prst="rect">
            <a:avLst/>
          </a:prstGeom>
          <a:noFill/>
        </p:spPr>
        <p:txBody>
          <a:bodyPr wrap="square">
            <a:spAutoFit/>
          </a:bodyPr>
          <a:lstStyle/>
          <a:p>
            <a:pPr>
              <a:defRPr sz="2700" b="0">
                <a:solidFill>
                  <a:srgbClr val="1C2521"/>
                </a:solidFill>
                <a:latin typeface="Georgia"/>
              </a:defRPr>
            </a:pPr>
            <a:r>
              <a:t>Record</a:t>
            </a:r>
          </a:p>
        </p:txBody>
      </p:sp>
      <p:sp>
        <p:nvSpPr>
          <p:cNvPr id="7" name="TextBox 6"/>
          <p:cNvSpPr txBox="1"/>
          <p:nvPr/>
        </p:nvSpPr>
        <p:spPr>
          <a:xfrm>
            <a:off x="1033271" y="5212080"/>
            <a:ext cx="3675887" cy="1307592"/>
          </a:xfrm>
          <a:prstGeom prst="rect">
            <a:avLst/>
          </a:prstGeom>
          <a:noFill/>
        </p:spPr>
        <p:txBody>
          <a:bodyPr wrap="square">
            <a:spAutoFit/>
          </a:bodyPr>
          <a:lstStyle/>
          <a:p>
            <a:pPr>
              <a:defRPr sz="2000" b="0">
                <a:solidFill>
                  <a:srgbClr val="5D655F"/>
                </a:solidFill>
                <a:latin typeface="Arial"/>
              </a:defRPr>
            </a:pPr>
            <a:r>
              <a:t>Actual local DOM actions and date parameters.</a:t>
            </a:r>
          </a:p>
        </p:txBody>
      </p:sp>
      <p:sp>
        <p:nvSpPr>
          <p:cNvPr id="8" name="Rounded Rectangle 7"/>
          <p:cNvSpPr/>
          <p:nvPr/>
        </p:nvSpPr>
        <p:spPr>
          <a:xfrm>
            <a:off x="5212080" y="4315968"/>
            <a:ext cx="4160520" cy="2423160"/>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40680" y="4526280"/>
            <a:ext cx="3675887" cy="548640"/>
          </a:xfrm>
          <a:prstGeom prst="rect">
            <a:avLst/>
          </a:prstGeom>
          <a:noFill/>
        </p:spPr>
        <p:txBody>
          <a:bodyPr wrap="square">
            <a:spAutoFit/>
          </a:bodyPr>
          <a:lstStyle/>
          <a:p>
            <a:pPr>
              <a:defRPr sz="2700" b="0">
                <a:solidFill>
                  <a:srgbClr val="1C2521"/>
                </a:solidFill>
                <a:latin typeface="Georgia"/>
              </a:defRPr>
            </a:pPr>
            <a:r>
              <a:t>Review</a:t>
            </a:r>
          </a:p>
        </p:txBody>
      </p:sp>
      <p:sp>
        <p:nvSpPr>
          <p:cNvPr id="10" name="TextBox 9"/>
          <p:cNvSpPr txBox="1"/>
          <p:nvPr/>
        </p:nvSpPr>
        <p:spPr>
          <a:xfrm>
            <a:off x="5440680" y="5212080"/>
            <a:ext cx="3675887" cy="1307592"/>
          </a:xfrm>
          <a:prstGeom prst="rect">
            <a:avLst/>
          </a:prstGeom>
          <a:noFill/>
        </p:spPr>
        <p:txBody>
          <a:bodyPr wrap="square">
            <a:spAutoFit/>
          </a:bodyPr>
          <a:lstStyle/>
          <a:p>
            <a:pPr>
              <a:defRPr sz="2000" b="0">
                <a:solidFill>
                  <a:srgbClr val="5D655F"/>
                </a:solidFill>
                <a:latin typeface="Arial"/>
              </a:defRPr>
            </a:pPr>
            <a:r>
              <a:t>A bounded recipe with an explicit operator approval.</a:t>
            </a:r>
          </a:p>
        </p:txBody>
      </p:sp>
      <p:sp>
        <p:nvSpPr>
          <p:cNvPr id="11" name="Rounded Rectangle 10"/>
          <p:cNvSpPr/>
          <p:nvPr/>
        </p:nvSpPr>
        <p:spPr>
          <a:xfrm>
            <a:off x="9619488" y="4315968"/>
            <a:ext cx="4160520" cy="2423160"/>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48088" y="4526280"/>
            <a:ext cx="3675887" cy="548640"/>
          </a:xfrm>
          <a:prstGeom prst="rect">
            <a:avLst/>
          </a:prstGeom>
          <a:noFill/>
        </p:spPr>
        <p:txBody>
          <a:bodyPr wrap="square">
            <a:spAutoFit/>
          </a:bodyPr>
          <a:lstStyle/>
          <a:p>
            <a:pPr>
              <a:defRPr sz="2700" b="0">
                <a:solidFill>
                  <a:srgbClr val="1C2521"/>
                </a:solidFill>
                <a:latin typeface="Georgia"/>
              </a:defRPr>
            </a:pPr>
            <a:r>
              <a:t>Replay</a:t>
            </a:r>
          </a:p>
        </p:txBody>
      </p:sp>
      <p:sp>
        <p:nvSpPr>
          <p:cNvPr id="13" name="TextBox 12"/>
          <p:cNvSpPr txBox="1"/>
          <p:nvPr/>
        </p:nvSpPr>
        <p:spPr>
          <a:xfrm>
            <a:off x="9848088" y="5212080"/>
            <a:ext cx="3675887" cy="1307592"/>
          </a:xfrm>
          <a:prstGeom prst="rect">
            <a:avLst/>
          </a:prstGeom>
          <a:noFill/>
        </p:spPr>
        <p:txBody>
          <a:bodyPr wrap="square">
            <a:spAutoFit/>
          </a:bodyPr>
          <a:lstStyle/>
          <a:p>
            <a:pPr>
              <a:defRPr sz="2000" b="0">
                <a:solidFill>
                  <a:srgbClr val="5D655F"/>
                </a:solidFill>
                <a:latin typeface="Arial"/>
              </a:defRPr>
            </a:pPr>
            <a:r>
              <a:t>Real browser execution and a verified CSV artifact.</a:t>
            </a:r>
          </a:p>
        </p:txBody>
      </p:sp>
      <p:sp>
        <p:nvSpPr>
          <p:cNvPr id="14" name="TextBox 13"/>
          <p:cNvSpPr txBox="1"/>
          <p:nvPr/>
        </p:nvSpPr>
        <p:spPr>
          <a:xfrm>
            <a:off x="804672" y="7699248"/>
            <a:ext cx="11887200" cy="274320"/>
          </a:xfrm>
          <a:prstGeom prst="rect">
            <a:avLst/>
          </a:prstGeom>
          <a:noFill/>
        </p:spPr>
        <p:txBody>
          <a:bodyPr wrap="square">
            <a:spAutoFit/>
          </a:bodyPr>
          <a:lstStyle/>
          <a:p>
            <a:pPr>
              <a:defRPr sz="1100" b="0">
                <a:solidFill>
                  <a:srgbClr val="5D655F"/>
                </a:solidFill>
                <a:latin typeface="Arial"/>
              </a:defRPr>
            </a:pPr>
            <a:r>
              <a:t>Sources: DEMO · AMANDA · PLAN   |   AIMSIGH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804672" y="594360"/>
            <a:ext cx="12801600" cy="365760"/>
          </a:xfrm>
          <a:prstGeom prst="rect">
            <a:avLst/>
          </a:prstGeom>
          <a:noFill/>
        </p:spPr>
        <p:txBody>
          <a:bodyPr wrap="square">
            <a:spAutoFit/>
          </a:bodyPr>
          <a:lstStyle/>
          <a:p>
            <a:pPr>
              <a:defRPr sz="1600" b="1">
                <a:solidFill>
                  <a:srgbClr val="2E7D5B"/>
                </a:solidFill>
                <a:latin typeface="Arial"/>
              </a:defRPr>
            </a:pPr>
            <a:r>
              <a:t>LIVE · RECORD AND REVIEW</a:t>
            </a:r>
          </a:p>
        </p:txBody>
      </p:sp>
      <p:sp>
        <p:nvSpPr>
          <p:cNvPr id="3" name="TextBox 2"/>
          <p:cNvSpPr txBox="1"/>
          <p:nvPr/>
        </p:nvSpPr>
        <p:spPr>
          <a:xfrm>
            <a:off x="804672" y="1143000"/>
            <a:ext cx="4114800" cy="2194560"/>
          </a:xfrm>
          <a:prstGeom prst="rect">
            <a:avLst/>
          </a:prstGeom>
          <a:noFill/>
        </p:spPr>
        <p:txBody>
          <a:bodyPr wrap="square">
            <a:spAutoFit/>
          </a:bodyPr>
          <a:lstStyle/>
          <a:p>
            <a:pPr>
              <a:defRPr sz="5200" b="0">
                <a:solidFill>
                  <a:srgbClr val="1C2521"/>
                </a:solidFill>
                <a:latin typeface="Georgia"/>
              </a:defRPr>
            </a:pPr>
            <a:r>
              <a:t>Amanda shows</a:t>
            </a:r>
          </a:p>
          <a:p>
            <a:pPr>
              <a:defRPr sz="5200" b="0">
                <a:solidFill>
                  <a:srgbClr val="1C2521"/>
                </a:solidFill>
                <a:latin typeface="Georgia"/>
              </a:defRPr>
            </a:pPr>
            <a:r>
              <a:t>the workflow.</a:t>
            </a:r>
          </a:p>
        </p:txBody>
      </p:sp>
      <p:sp>
        <p:nvSpPr>
          <p:cNvPr id="4" name="TextBox 3"/>
          <p:cNvSpPr txBox="1"/>
          <p:nvPr/>
        </p:nvSpPr>
        <p:spPr>
          <a:xfrm>
            <a:off x="804672" y="3794760"/>
            <a:ext cx="3931920" cy="1920240"/>
          </a:xfrm>
          <a:prstGeom prst="rect">
            <a:avLst/>
          </a:prstGeom>
          <a:noFill/>
        </p:spPr>
        <p:txBody>
          <a:bodyPr wrap="square">
            <a:spAutoFit/>
          </a:bodyPr>
          <a:lstStyle/>
          <a:p>
            <a:pPr>
              <a:defRPr sz="2300" b="0">
                <a:solidFill>
                  <a:srgbClr val="5D655F"/>
                </a:solidFill>
                <a:latin typeface="Arial"/>
              </a:defRPr>
            </a:pPr>
            <a:r>
              <a:t>Record September 29. Review the captured actions. Approve the recipe before replay.</a:t>
            </a:r>
          </a:p>
        </p:txBody>
      </p:sp>
      <p:pic>
        <p:nvPicPr>
          <p:cNvPr id="5" name="Picture 4" descr="recording.png"/>
          <p:cNvPicPr>
            <a:picLocks noChangeAspect="1"/>
          </p:cNvPicPr>
          <p:nvPr/>
        </p:nvPicPr>
        <p:blipFill>
          <a:blip r:embed="rId2"/>
          <a:stretch>
            <a:fillRect/>
          </a:stretch>
        </p:blipFill>
        <p:spPr>
          <a:xfrm>
            <a:off x="5859018" y="1234440"/>
            <a:ext cx="7886700" cy="5257800"/>
          </a:xfrm>
          <a:prstGeom prst="rect">
            <a:avLst/>
          </a:prstGeom>
        </p:spPr>
      </p:pic>
      <p:sp>
        <p:nvSpPr>
          <p:cNvPr id="6" name="TextBox 5"/>
          <p:cNvSpPr txBox="1"/>
          <p:nvPr/>
        </p:nvSpPr>
        <p:spPr>
          <a:xfrm>
            <a:off x="5596128" y="6537960"/>
            <a:ext cx="8412480" cy="457200"/>
          </a:xfrm>
          <a:prstGeom prst="rect">
            <a:avLst/>
          </a:prstGeom>
          <a:noFill/>
        </p:spPr>
        <p:txBody>
          <a:bodyPr wrap="square">
            <a:spAutoFit/>
          </a:bodyPr>
          <a:lstStyle/>
          <a:p>
            <a:pPr>
              <a:defRPr sz="1300" b="0">
                <a:solidFill>
                  <a:srgbClr val="5D655F"/>
                </a:solidFill>
                <a:latin typeface="Arial"/>
              </a:defRPr>
            </a:pPr>
            <a:r>
              <a:t>Actual local recorder and simulated portal</a:t>
            </a:r>
          </a:p>
        </p:txBody>
      </p:sp>
      <p:sp>
        <p:nvSpPr>
          <p:cNvPr id="7" name="TextBox 6"/>
          <p:cNvSpPr txBox="1"/>
          <p:nvPr/>
        </p:nvSpPr>
        <p:spPr>
          <a:xfrm>
            <a:off x="804672" y="7699248"/>
            <a:ext cx="11887200" cy="274320"/>
          </a:xfrm>
          <a:prstGeom prst="rect">
            <a:avLst/>
          </a:prstGeom>
          <a:noFill/>
        </p:spPr>
        <p:txBody>
          <a:bodyPr wrap="square">
            <a:spAutoFit/>
          </a:bodyPr>
          <a:lstStyle/>
          <a:p>
            <a:pPr>
              <a:defRPr sz="1100" b="0">
                <a:solidFill>
                  <a:srgbClr val="5D655F"/>
                </a:solidFill>
                <a:latin typeface="Arial"/>
              </a:defRPr>
            </a:pPr>
            <a:r>
              <a:t>Sources: DEMO · CONTRACT   |   AIMSIGH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804672" y="594360"/>
            <a:ext cx="12801600" cy="365760"/>
          </a:xfrm>
          <a:prstGeom prst="rect">
            <a:avLst/>
          </a:prstGeom>
          <a:noFill/>
        </p:spPr>
        <p:txBody>
          <a:bodyPr wrap="square">
            <a:spAutoFit/>
          </a:bodyPr>
          <a:lstStyle/>
          <a:p>
            <a:pPr>
              <a:defRPr sz="1600" b="1">
                <a:solidFill>
                  <a:srgbClr val="2E7D5B"/>
                </a:solidFill>
                <a:latin typeface="Arial"/>
              </a:defRPr>
            </a:pPr>
            <a:r>
              <a:t>LIVE · TWO IMPLEMENTED SOURCES</a:t>
            </a:r>
          </a:p>
        </p:txBody>
      </p:sp>
      <p:sp>
        <p:nvSpPr>
          <p:cNvPr id="3" name="TextBox 2"/>
          <p:cNvSpPr txBox="1"/>
          <p:nvPr/>
        </p:nvSpPr>
        <p:spPr>
          <a:xfrm>
            <a:off x="804672" y="1143000"/>
            <a:ext cx="4114800" cy="2194560"/>
          </a:xfrm>
          <a:prstGeom prst="rect">
            <a:avLst/>
          </a:prstGeom>
          <a:noFill/>
        </p:spPr>
        <p:txBody>
          <a:bodyPr wrap="square">
            <a:spAutoFit/>
          </a:bodyPr>
          <a:lstStyle/>
          <a:p>
            <a:pPr>
              <a:defRPr sz="5200" b="0">
                <a:solidFill>
                  <a:srgbClr val="1C2521"/>
                </a:solidFill>
                <a:latin typeface="Georgia"/>
              </a:defRPr>
            </a:pPr>
            <a:r>
              <a:t>New dates.</a:t>
            </a:r>
          </a:p>
          <a:p>
            <a:pPr>
              <a:defRPr sz="5200" b="0">
                <a:solidFill>
                  <a:srgbClr val="1C2521"/>
                </a:solidFill>
                <a:latin typeface="Georgia"/>
              </a:defRPr>
            </a:pPr>
            <a:r>
              <a:t>The same reviewed task.</a:t>
            </a:r>
          </a:p>
        </p:txBody>
      </p:sp>
      <p:sp>
        <p:nvSpPr>
          <p:cNvPr id="4" name="TextBox 3"/>
          <p:cNvSpPr txBox="1"/>
          <p:nvPr/>
        </p:nvSpPr>
        <p:spPr>
          <a:xfrm>
            <a:off x="804672" y="3794760"/>
            <a:ext cx="3931920" cy="1920240"/>
          </a:xfrm>
          <a:prstGeom prst="rect">
            <a:avLst/>
          </a:prstGeom>
          <a:noFill/>
        </p:spPr>
        <p:txBody>
          <a:bodyPr wrap="square">
            <a:spAutoFit/>
          </a:bodyPr>
          <a:lstStyle/>
          <a:p>
            <a:pPr>
              <a:defRPr sz="2300" b="0">
                <a:solidFill>
                  <a:srgbClr val="5D655F"/>
                </a:solidFill>
                <a:latin typeface="Arial"/>
              </a:defRPr>
            </a:pPr>
            <a:r>
              <a:t>Replay September 30 for Upright, then Cash Monkey. Watch genuine browser frames and import evidence.</a:t>
            </a:r>
          </a:p>
        </p:txBody>
      </p:sp>
      <p:pic>
        <p:nvPicPr>
          <p:cNvPr id="5" name="Picture 4" descr="collection.png"/>
          <p:cNvPicPr>
            <a:picLocks noChangeAspect="1"/>
          </p:cNvPicPr>
          <p:nvPr/>
        </p:nvPicPr>
        <p:blipFill>
          <a:blip r:embed="rId2"/>
          <a:stretch>
            <a:fillRect/>
          </a:stretch>
        </p:blipFill>
        <p:spPr>
          <a:xfrm>
            <a:off x="5859018" y="1234440"/>
            <a:ext cx="7886700" cy="5257800"/>
          </a:xfrm>
          <a:prstGeom prst="rect">
            <a:avLst/>
          </a:prstGeom>
        </p:spPr>
      </p:pic>
      <p:sp>
        <p:nvSpPr>
          <p:cNvPr id="6" name="TextBox 5"/>
          <p:cNvSpPr txBox="1"/>
          <p:nvPr/>
        </p:nvSpPr>
        <p:spPr>
          <a:xfrm>
            <a:off x="5596128" y="6537960"/>
            <a:ext cx="8412480" cy="457200"/>
          </a:xfrm>
          <a:prstGeom prst="rect">
            <a:avLst/>
          </a:prstGeom>
          <a:noFill/>
        </p:spPr>
        <p:txBody>
          <a:bodyPr wrap="square">
            <a:spAutoFit/>
          </a:bodyPr>
          <a:lstStyle/>
          <a:p>
            <a:pPr>
              <a:defRPr sz="1300" b="0">
                <a:solidFill>
                  <a:srgbClr val="5D655F"/>
                </a:solidFill>
                <a:latin typeface="Arial"/>
              </a:defRPr>
            </a:pPr>
            <a:r>
              <a:t>Actual replay frames and verified collection result</a:t>
            </a:r>
          </a:p>
        </p:txBody>
      </p:sp>
      <p:sp>
        <p:nvSpPr>
          <p:cNvPr id="7" name="TextBox 6"/>
          <p:cNvSpPr txBox="1"/>
          <p:nvPr/>
        </p:nvSpPr>
        <p:spPr>
          <a:xfrm>
            <a:off x="804672" y="7699248"/>
            <a:ext cx="11887200" cy="274320"/>
          </a:xfrm>
          <a:prstGeom prst="rect">
            <a:avLst/>
          </a:prstGeom>
          <a:noFill/>
        </p:spPr>
        <p:txBody>
          <a:bodyPr wrap="square">
            <a:spAutoFit/>
          </a:bodyPr>
          <a:lstStyle/>
          <a:p>
            <a:pPr>
              <a:defRPr sz="1100" b="0">
                <a:solidFill>
                  <a:srgbClr val="5D655F"/>
                </a:solidFill>
                <a:latin typeface="Arial"/>
              </a:defRPr>
            </a:pPr>
            <a:r>
              <a:t>Sources: DEMO · CONTRACT   |   AIMSIGH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804672" y="594360"/>
            <a:ext cx="12801600" cy="365760"/>
          </a:xfrm>
          <a:prstGeom prst="rect">
            <a:avLst/>
          </a:prstGeom>
          <a:noFill/>
        </p:spPr>
        <p:txBody>
          <a:bodyPr wrap="square">
            <a:spAutoFit/>
          </a:bodyPr>
          <a:lstStyle/>
          <a:p>
            <a:pPr>
              <a:defRPr sz="1600" b="1">
                <a:solidFill>
                  <a:srgbClr val="2E7D5B"/>
                </a:solidFill>
                <a:latin typeface="Arial"/>
              </a:defRPr>
            </a:pPr>
            <a:r>
              <a:t>CONTROLLED FAILURE</a:t>
            </a:r>
          </a:p>
        </p:txBody>
      </p:sp>
      <p:sp>
        <p:nvSpPr>
          <p:cNvPr id="3" name="TextBox 2"/>
          <p:cNvSpPr txBox="1"/>
          <p:nvPr/>
        </p:nvSpPr>
        <p:spPr>
          <a:xfrm>
            <a:off x="804672" y="1143000"/>
            <a:ext cx="12801600" cy="2194560"/>
          </a:xfrm>
          <a:prstGeom prst="rect">
            <a:avLst/>
          </a:prstGeom>
          <a:noFill/>
        </p:spPr>
        <p:txBody>
          <a:bodyPr wrap="square">
            <a:spAutoFit/>
          </a:bodyPr>
          <a:lstStyle/>
          <a:p>
            <a:pPr>
              <a:defRPr sz="6200" b="0">
                <a:solidFill>
                  <a:srgbClr val="1C2521"/>
                </a:solidFill>
                <a:latin typeface="Georgia"/>
              </a:defRPr>
            </a:pPr>
            <a:r>
              <a:t>A changed page</a:t>
            </a:r>
          </a:p>
          <a:p>
            <a:pPr>
              <a:defRPr sz="6200" b="0">
                <a:solidFill>
                  <a:srgbClr val="1C2521"/>
                </a:solidFill>
                <a:latin typeface="Georgia"/>
              </a:defRPr>
            </a:pPr>
            <a:r>
              <a:t>needs an explicit decision.</a:t>
            </a:r>
          </a:p>
        </p:txBody>
      </p:sp>
      <p:sp>
        <p:nvSpPr>
          <p:cNvPr id="4" name="TextBox 3"/>
          <p:cNvSpPr txBox="1"/>
          <p:nvPr/>
        </p:nvSpPr>
        <p:spPr>
          <a:xfrm>
            <a:off x="804672" y="3063240"/>
            <a:ext cx="12618720" cy="1920240"/>
          </a:xfrm>
          <a:prstGeom prst="rect">
            <a:avLst/>
          </a:prstGeom>
          <a:noFill/>
        </p:spPr>
        <p:txBody>
          <a:bodyPr wrap="square">
            <a:spAutoFit/>
          </a:bodyPr>
          <a:lstStyle/>
          <a:p>
            <a:pPr>
              <a:defRPr sz="2500" b="0">
                <a:solidFill>
                  <a:srgbClr val="5D655F"/>
                </a:solidFill>
                <a:latin typeface="Arial"/>
              </a:defRPr>
            </a:pPr>
            <a:r>
              <a:t>A mismatched control stops replay. The operator reviews and approves a new recipe. Last-good data stays available.</a:t>
            </a:r>
          </a:p>
        </p:txBody>
      </p:sp>
      <p:sp>
        <p:nvSpPr>
          <p:cNvPr id="5" name="Rounded Rectangle 4"/>
          <p:cNvSpPr/>
          <p:nvPr/>
        </p:nvSpPr>
        <p:spPr>
          <a:xfrm>
            <a:off x="804672" y="4315968"/>
            <a:ext cx="4160520" cy="2423160"/>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4526280"/>
            <a:ext cx="3675887" cy="548640"/>
          </a:xfrm>
          <a:prstGeom prst="rect">
            <a:avLst/>
          </a:prstGeom>
          <a:noFill/>
        </p:spPr>
        <p:txBody>
          <a:bodyPr wrap="square">
            <a:spAutoFit/>
          </a:bodyPr>
          <a:lstStyle/>
          <a:p>
            <a:pPr>
              <a:defRPr sz="2700" b="0">
                <a:solidFill>
                  <a:srgbClr val="1C2521"/>
                </a:solidFill>
                <a:latin typeface="Georgia"/>
              </a:defRPr>
            </a:pPr>
            <a:r>
              <a:t>Bounded execution</a:t>
            </a:r>
          </a:p>
        </p:txBody>
      </p:sp>
      <p:sp>
        <p:nvSpPr>
          <p:cNvPr id="7" name="TextBox 6"/>
          <p:cNvSpPr txBox="1"/>
          <p:nvPr/>
        </p:nvSpPr>
        <p:spPr>
          <a:xfrm>
            <a:off x="1033271" y="5212080"/>
            <a:ext cx="3675887" cy="1307592"/>
          </a:xfrm>
          <a:prstGeom prst="rect">
            <a:avLst/>
          </a:prstGeom>
          <a:noFill/>
        </p:spPr>
        <p:txBody>
          <a:bodyPr wrap="square">
            <a:spAutoFit/>
          </a:bodyPr>
          <a:lstStyle/>
          <a:p>
            <a:pPr>
              <a:defRPr sz="2000" b="0">
                <a:solidFill>
                  <a:srgbClr val="5D655F"/>
                </a:solidFill>
                <a:latin typeface="Arial"/>
              </a:defRPr>
            </a:pPr>
            <a:r>
              <a:t>Known local destinations and permitted operations.</a:t>
            </a:r>
          </a:p>
        </p:txBody>
      </p:sp>
      <p:sp>
        <p:nvSpPr>
          <p:cNvPr id="8" name="Rounded Rectangle 7"/>
          <p:cNvSpPr/>
          <p:nvPr/>
        </p:nvSpPr>
        <p:spPr>
          <a:xfrm>
            <a:off x="5212080" y="4315968"/>
            <a:ext cx="4160520" cy="2423160"/>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40680" y="4526280"/>
            <a:ext cx="3675887" cy="548640"/>
          </a:xfrm>
          <a:prstGeom prst="rect">
            <a:avLst/>
          </a:prstGeom>
          <a:noFill/>
        </p:spPr>
        <p:txBody>
          <a:bodyPr wrap="square">
            <a:spAutoFit/>
          </a:bodyPr>
          <a:lstStyle/>
          <a:p>
            <a:pPr>
              <a:defRPr sz="2700" b="0">
                <a:solidFill>
                  <a:srgbClr val="1C2521"/>
                </a:solidFill>
                <a:latin typeface="Georgia"/>
              </a:defRPr>
            </a:pPr>
            <a:r>
              <a:t>No bad publication</a:t>
            </a:r>
          </a:p>
        </p:txBody>
      </p:sp>
      <p:sp>
        <p:nvSpPr>
          <p:cNvPr id="10" name="TextBox 9"/>
          <p:cNvSpPr txBox="1"/>
          <p:nvPr/>
        </p:nvSpPr>
        <p:spPr>
          <a:xfrm>
            <a:off x="5440680" y="5212080"/>
            <a:ext cx="3675887" cy="1307592"/>
          </a:xfrm>
          <a:prstGeom prst="rect">
            <a:avLst/>
          </a:prstGeom>
          <a:noFill/>
        </p:spPr>
        <p:txBody>
          <a:bodyPr wrap="square">
            <a:spAutoFit/>
          </a:bodyPr>
          <a:lstStyle/>
          <a:p>
            <a:pPr>
              <a:defRPr sz="2000" b="0">
                <a:solidFill>
                  <a:srgbClr val="5D655F"/>
                </a:solidFill>
                <a:latin typeface="Arial"/>
              </a:defRPr>
            </a:pPr>
            <a:r>
              <a:t>Wrong dates, missing reports or failed checks cannot become new financial totals.</a:t>
            </a:r>
          </a:p>
        </p:txBody>
      </p:sp>
      <p:sp>
        <p:nvSpPr>
          <p:cNvPr id="11" name="Rounded Rectangle 10"/>
          <p:cNvSpPr/>
          <p:nvPr/>
        </p:nvSpPr>
        <p:spPr>
          <a:xfrm>
            <a:off x="9619488" y="4315968"/>
            <a:ext cx="4160520" cy="2423160"/>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48088" y="4526280"/>
            <a:ext cx="3675887" cy="548640"/>
          </a:xfrm>
          <a:prstGeom prst="rect">
            <a:avLst/>
          </a:prstGeom>
          <a:noFill/>
        </p:spPr>
        <p:txBody>
          <a:bodyPr wrap="square">
            <a:spAutoFit/>
          </a:bodyPr>
          <a:lstStyle/>
          <a:p>
            <a:pPr>
              <a:defRPr sz="2700" b="0">
                <a:solidFill>
                  <a:srgbClr val="1C2521"/>
                </a:solidFill>
                <a:latin typeface="Georgia"/>
              </a:defRPr>
            </a:pPr>
            <a:r>
              <a:t>Jev is conditional</a:t>
            </a:r>
          </a:p>
        </p:txBody>
      </p:sp>
      <p:sp>
        <p:nvSpPr>
          <p:cNvPr id="13" name="TextBox 12"/>
          <p:cNvSpPr txBox="1"/>
          <p:nvPr/>
        </p:nvSpPr>
        <p:spPr>
          <a:xfrm>
            <a:off x="9848088" y="5212080"/>
            <a:ext cx="3675887" cy="1307592"/>
          </a:xfrm>
          <a:prstGeom prst="rect">
            <a:avLst/>
          </a:prstGeom>
          <a:noFill/>
        </p:spPr>
        <p:txBody>
          <a:bodyPr wrap="square">
            <a:spAutoFit/>
          </a:bodyPr>
          <a:lstStyle/>
          <a:p>
            <a:pPr>
              <a:defRPr sz="2000" b="0">
                <a:solidFill>
                  <a:srgbClr val="5D655F"/>
                </a:solidFill>
                <a:latin typeface="Arial"/>
              </a:defRPr>
            </a:pPr>
            <a:r>
              <a:t>Probabilistic decision adapter is a future approved option. Main demo is model-free.</a:t>
            </a:r>
          </a:p>
        </p:txBody>
      </p:sp>
      <p:sp>
        <p:nvSpPr>
          <p:cNvPr id="14" name="TextBox 13"/>
          <p:cNvSpPr txBox="1"/>
          <p:nvPr/>
        </p:nvSpPr>
        <p:spPr>
          <a:xfrm>
            <a:off x="804672" y="7699248"/>
            <a:ext cx="11887200" cy="274320"/>
          </a:xfrm>
          <a:prstGeom prst="rect">
            <a:avLst/>
          </a:prstGeom>
          <a:noFill/>
        </p:spPr>
        <p:txBody>
          <a:bodyPr wrap="square">
            <a:spAutoFit/>
          </a:bodyPr>
          <a:lstStyle/>
          <a:p>
            <a:pPr>
              <a:defRPr sz="1100" b="0">
                <a:solidFill>
                  <a:srgbClr val="5D655F"/>
                </a:solidFill>
                <a:latin typeface="Arial"/>
              </a:defRPr>
            </a:pPr>
            <a:r>
              <a:t>Sources: PLAN · JEV   |   AIMSIGH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804672" y="594360"/>
            <a:ext cx="12801600" cy="365760"/>
          </a:xfrm>
          <a:prstGeom prst="rect">
            <a:avLst/>
          </a:prstGeom>
          <a:noFill/>
        </p:spPr>
        <p:txBody>
          <a:bodyPr wrap="square">
            <a:spAutoFit/>
          </a:bodyPr>
          <a:lstStyle/>
          <a:p>
            <a:pPr>
              <a:defRPr sz="1600" b="1">
                <a:solidFill>
                  <a:srgbClr val="2E7D5B"/>
                </a:solidFill>
                <a:latin typeface="Arial"/>
              </a:defRPr>
            </a:pPr>
            <a:r>
              <a:t>02 · VERIFY &amp; DELIVER</a:t>
            </a:r>
          </a:p>
        </p:txBody>
      </p:sp>
      <p:sp>
        <p:nvSpPr>
          <p:cNvPr id="3" name="TextBox 2"/>
          <p:cNvSpPr txBox="1"/>
          <p:nvPr/>
        </p:nvSpPr>
        <p:spPr>
          <a:xfrm>
            <a:off x="804672" y="1143000"/>
            <a:ext cx="12801600" cy="2194560"/>
          </a:xfrm>
          <a:prstGeom prst="rect">
            <a:avLst/>
          </a:prstGeom>
          <a:noFill/>
        </p:spPr>
        <p:txBody>
          <a:bodyPr wrap="square">
            <a:spAutoFit/>
          </a:bodyPr>
          <a:lstStyle/>
          <a:p>
            <a:pPr>
              <a:defRPr sz="6200" b="0">
                <a:solidFill>
                  <a:srgbClr val="1C2521"/>
                </a:solidFill>
                <a:latin typeface="Georgia"/>
              </a:defRPr>
            </a:pPr>
            <a:r>
              <a:t>One published snapshot.</a:t>
            </a:r>
          </a:p>
          <a:p>
            <a:pPr>
              <a:defRPr sz="6200" b="0">
                <a:solidFill>
                  <a:srgbClr val="1C2521"/>
                </a:solidFill>
                <a:latin typeface="Georgia"/>
              </a:defRPr>
            </a:pPr>
            <a:r>
              <a:t>Every result keeps its lineage.</a:t>
            </a:r>
          </a:p>
        </p:txBody>
      </p:sp>
      <p:sp>
        <p:nvSpPr>
          <p:cNvPr id="4" name="TextBox 3"/>
          <p:cNvSpPr txBox="1"/>
          <p:nvPr/>
        </p:nvSpPr>
        <p:spPr>
          <a:xfrm>
            <a:off x="804672" y="3063240"/>
            <a:ext cx="12618720" cy="1920240"/>
          </a:xfrm>
          <a:prstGeom prst="rect">
            <a:avLst/>
          </a:prstGeom>
          <a:noFill/>
        </p:spPr>
        <p:txBody>
          <a:bodyPr wrap="square">
            <a:spAutoFit/>
          </a:bodyPr>
          <a:lstStyle/>
          <a:p>
            <a:pPr>
              <a:defRPr sz="2500" b="0">
                <a:solidFill>
                  <a:srgbClr val="5D655F"/>
                </a:solidFill>
                <a:latin typeface="Arial"/>
              </a:defRPr>
            </a:pPr>
            <a:r>
              <a:t>Raw file → staging → versioned sales → published rows → snapshot → workbook, charts and answers.</a:t>
            </a:r>
          </a:p>
        </p:txBody>
      </p:sp>
      <p:sp>
        <p:nvSpPr>
          <p:cNvPr id="5" name="TextBox 4"/>
          <p:cNvSpPr txBox="1"/>
          <p:nvPr/>
        </p:nvSpPr>
        <p:spPr>
          <a:xfrm>
            <a:off x="804672" y="3886200"/>
            <a:ext cx="12801600" cy="548640"/>
          </a:xfrm>
          <a:prstGeom prst="rect">
            <a:avLst/>
          </a:prstGeom>
          <a:noFill/>
        </p:spPr>
        <p:txBody>
          <a:bodyPr wrap="square">
            <a:spAutoFit/>
          </a:bodyPr>
          <a:lstStyle/>
          <a:p>
            <a:pPr>
              <a:defRPr sz="2200" b="0">
                <a:solidFill>
                  <a:srgbClr val="2E7D5B"/>
                </a:solidFill>
                <a:latin typeface="Arial"/>
              </a:defRPr>
            </a:pPr>
            <a:r>
              <a:t>Raw CSV → Typed staging → Versioned sales → Published snapshot → Excel + answers</a:t>
            </a:r>
          </a:p>
        </p:txBody>
      </p:sp>
      <p:sp>
        <p:nvSpPr>
          <p:cNvPr id="6" name="Rounded Rectangle 5"/>
          <p:cNvSpPr/>
          <p:nvPr/>
        </p:nvSpPr>
        <p:spPr>
          <a:xfrm>
            <a:off x="804672" y="4709160"/>
            <a:ext cx="4160520" cy="2029968"/>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4892040"/>
            <a:ext cx="3767328" cy="457200"/>
          </a:xfrm>
          <a:prstGeom prst="rect">
            <a:avLst/>
          </a:prstGeom>
          <a:noFill/>
        </p:spPr>
        <p:txBody>
          <a:bodyPr wrap="square">
            <a:spAutoFit/>
          </a:bodyPr>
          <a:lstStyle/>
          <a:p>
            <a:pPr>
              <a:defRPr sz="2400" b="0">
                <a:solidFill>
                  <a:srgbClr val="1C2521"/>
                </a:solidFill>
                <a:latin typeface="Georgia"/>
              </a:defRPr>
            </a:pPr>
            <a:r>
              <a:t>Original report</a:t>
            </a:r>
          </a:p>
        </p:txBody>
      </p:sp>
      <p:sp>
        <p:nvSpPr>
          <p:cNvPr id="8" name="TextBox 7"/>
          <p:cNvSpPr txBox="1"/>
          <p:nvPr/>
        </p:nvSpPr>
        <p:spPr>
          <a:xfrm>
            <a:off x="987552" y="5440680"/>
            <a:ext cx="3767328" cy="1097280"/>
          </a:xfrm>
          <a:prstGeom prst="rect">
            <a:avLst/>
          </a:prstGeom>
          <a:noFill/>
        </p:spPr>
        <p:txBody>
          <a:bodyPr wrap="square">
            <a:spAutoFit/>
          </a:bodyPr>
          <a:lstStyle/>
          <a:p>
            <a:pPr>
              <a:defRPr sz="1700" b="0">
                <a:solidFill>
                  <a:srgbClr val="5D655F"/>
                </a:solidFill>
                <a:latin typeface="Arial"/>
              </a:defRPr>
            </a:pPr>
            <a:r>
              <a:t>source_files.id / checksum</a:t>
            </a:r>
          </a:p>
          <a:p>
            <a:pPr>
              <a:defRPr sz="1700" b="0">
                <a:solidFill>
                  <a:srgbClr val="5D655F"/>
                </a:solidFill>
                <a:latin typeface="Arial"/>
              </a:defRPr>
            </a:pPr>
            <a:r>
              <a:t>import_batches.file_id</a:t>
            </a:r>
          </a:p>
          <a:p>
            <a:pPr>
              <a:defRPr sz="1700" b="0">
                <a:solidFill>
                  <a:srgbClr val="5D655F"/>
                </a:solidFill>
                <a:latin typeface="Arial"/>
              </a:defRPr>
            </a:pPr>
            <a:r>
              <a:t>staging_rows.batch_id + row_number</a:t>
            </a:r>
          </a:p>
        </p:txBody>
      </p:sp>
      <p:sp>
        <p:nvSpPr>
          <p:cNvPr id="9" name="Rounded Rectangle 8"/>
          <p:cNvSpPr/>
          <p:nvPr/>
        </p:nvSpPr>
        <p:spPr>
          <a:xfrm>
            <a:off x="5212080" y="4709160"/>
            <a:ext cx="4160520" cy="2029968"/>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4960" y="4892040"/>
            <a:ext cx="3767328" cy="457200"/>
          </a:xfrm>
          <a:prstGeom prst="rect">
            <a:avLst/>
          </a:prstGeom>
          <a:noFill/>
        </p:spPr>
        <p:txBody>
          <a:bodyPr wrap="square">
            <a:spAutoFit/>
          </a:bodyPr>
          <a:lstStyle/>
          <a:p>
            <a:pPr>
              <a:defRPr sz="2400" b="0">
                <a:solidFill>
                  <a:srgbClr val="1C2521"/>
                </a:solidFill>
                <a:latin typeface="Georgia"/>
              </a:defRPr>
            </a:pPr>
            <a:r>
              <a:t>Published records</a:t>
            </a:r>
          </a:p>
        </p:txBody>
      </p:sp>
      <p:sp>
        <p:nvSpPr>
          <p:cNvPr id="11" name="TextBox 10"/>
          <p:cNvSpPr txBox="1"/>
          <p:nvPr/>
        </p:nvSpPr>
        <p:spPr>
          <a:xfrm>
            <a:off x="5394960" y="5440680"/>
            <a:ext cx="3767328" cy="1097280"/>
          </a:xfrm>
          <a:prstGeom prst="rect">
            <a:avLst/>
          </a:prstGeom>
          <a:noFill/>
        </p:spPr>
        <p:txBody>
          <a:bodyPr wrap="square">
            <a:spAutoFit/>
          </a:bodyPr>
          <a:lstStyle/>
          <a:p>
            <a:pPr>
              <a:defRPr sz="1700" b="0">
                <a:solidFill>
                  <a:srgbClr val="5D655F"/>
                </a:solidFill>
                <a:latin typeface="Arial"/>
              </a:defRPr>
            </a:pPr>
            <a:r>
              <a:t>sale_versions.id / record_key</a:t>
            </a:r>
          </a:p>
          <a:p>
            <a:pPr>
              <a:defRPr sz="1700" b="0">
                <a:solidFill>
                  <a:srgbClr val="5D655F"/>
                </a:solidFill>
                <a:latin typeface="Arial"/>
              </a:defRPr>
            </a:pPr>
            <a:r>
              <a:t>metric_runs.id</a:t>
            </a:r>
          </a:p>
          <a:p>
            <a:pPr>
              <a:defRPr sz="1700" b="0">
                <a:solidFill>
                  <a:srgbClr val="5D655F"/>
                </a:solidFill>
                <a:latin typeface="Arial"/>
              </a:defRPr>
            </a:pPr>
            <a:r>
              <a:t>metric_run_rows.run_id + version_id</a:t>
            </a:r>
          </a:p>
        </p:txBody>
      </p:sp>
      <p:sp>
        <p:nvSpPr>
          <p:cNvPr id="12" name="Rounded Rectangle 11"/>
          <p:cNvSpPr/>
          <p:nvPr/>
        </p:nvSpPr>
        <p:spPr>
          <a:xfrm>
            <a:off x="9619488" y="4709160"/>
            <a:ext cx="4160520" cy="2029968"/>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02368" y="4892040"/>
            <a:ext cx="3767328" cy="457200"/>
          </a:xfrm>
          <a:prstGeom prst="rect">
            <a:avLst/>
          </a:prstGeom>
          <a:noFill/>
        </p:spPr>
        <p:txBody>
          <a:bodyPr wrap="square">
            <a:spAutoFit/>
          </a:bodyPr>
          <a:lstStyle/>
          <a:p>
            <a:pPr>
              <a:defRPr sz="2400" b="0">
                <a:solidFill>
                  <a:srgbClr val="1C2521"/>
                </a:solidFill>
                <a:latin typeface="Georgia"/>
              </a:defRPr>
            </a:pPr>
            <a:r>
              <a:t>Showcase snapshot</a:t>
            </a:r>
          </a:p>
        </p:txBody>
      </p:sp>
      <p:sp>
        <p:nvSpPr>
          <p:cNvPr id="14" name="TextBox 13"/>
          <p:cNvSpPr txBox="1"/>
          <p:nvPr/>
        </p:nvSpPr>
        <p:spPr>
          <a:xfrm>
            <a:off x="9802368" y="5440680"/>
            <a:ext cx="3767328" cy="1097280"/>
          </a:xfrm>
          <a:prstGeom prst="rect">
            <a:avLst/>
          </a:prstGeom>
          <a:noFill/>
        </p:spPr>
        <p:txBody>
          <a:bodyPr wrap="square">
            <a:spAutoFit/>
          </a:bodyPr>
          <a:lstStyle/>
          <a:p>
            <a:pPr>
              <a:defRPr sz="1700" b="0">
                <a:solidFill>
                  <a:srgbClr val="5D655F"/>
                </a:solidFill>
                <a:latin typeface="Arial"/>
              </a:defRPr>
            </a:pPr>
            <a:r>
              <a:t>Source publication identifiers</a:t>
            </a:r>
          </a:p>
          <a:p>
            <a:pPr>
              <a:defRPr sz="1700" b="0">
                <a:solidFill>
                  <a:srgbClr val="5D655F"/>
                </a:solidFill>
                <a:latin typeface="Arial"/>
              </a:defRPr>
            </a:pPr>
            <a:r>
              <a:t>Versioned labor / shipping inputs</a:t>
            </a:r>
          </a:p>
          <a:p>
            <a:pPr>
              <a:defRPr sz="1700" b="0">
                <a:solidFill>
                  <a:srgbClr val="5D655F"/>
                </a:solidFill>
                <a:latin typeface="Arial"/>
              </a:defRPr>
            </a:pPr>
            <a:r>
              <a:t>Scope, coverage and checksums</a:t>
            </a:r>
          </a:p>
        </p:txBody>
      </p:sp>
      <p:sp>
        <p:nvSpPr>
          <p:cNvPr id="15" name="TextBox 14"/>
          <p:cNvSpPr txBox="1"/>
          <p:nvPr/>
        </p:nvSpPr>
        <p:spPr>
          <a:xfrm>
            <a:off x="804672" y="7699248"/>
            <a:ext cx="11887200" cy="274320"/>
          </a:xfrm>
          <a:prstGeom prst="rect">
            <a:avLst/>
          </a:prstGeom>
          <a:noFill/>
        </p:spPr>
        <p:txBody>
          <a:bodyPr wrap="square">
            <a:spAutoFit/>
          </a:bodyPr>
          <a:lstStyle/>
          <a:p>
            <a:pPr>
              <a:defRPr sz="1100" b="0">
                <a:solidFill>
                  <a:srgbClr val="5D655F"/>
                </a:solidFill>
                <a:latin typeface="Arial"/>
              </a:defRPr>
            </a:pPr>
            <a:r>
              <a:t>Sources: PLAN · CONTRACT   |   AIMSIGH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804672" y="594360"/>
            <a:ext cx="12801600" cy="365760"/>
          </a:xfrm>
          <a:prstGeom prst="rect">
            <a:avLst/>
          </a:prstGeom>
          <a:noFill/>
        </p:spPr>
        <p:txBody>
          <a:bodyPr wrap="square">
            <a:spAutoFit/>
          </a:bodyPr>
          <a:lstStyle/>
          <a:p>
            <a:pPr>
              <a:defRPr sz="1600" b="1">
                <a:solidFill>
                  <a:srgbClr val="2E7D5B"/>
                </a:solidFill>
                <a:latin typeface="Arial"/>
              </a:defRPr>
            </a:pPr>
            <a:r>
              <a:t>LIVE · THE FAMILIAR OUTPUT</a:t>
            </a:r>
          </a:p>
        </p:txBody>
      </p:sp>
      <p:sp>
        <p:nvSpPr>
          <p:cNvPr id="3" name="TextBox 2"/>
          <p:cNvSpPr txBox="1"/>
          <p:nvPr/>
        </p:nvSpPr>
        <p:spPr>
          <a:xfrm>
            <a:off x="804672" y="1143000"/>
            <a:ext cx="4114800" cy="2194560"/>
          </a:xfrm>
          <a:prstGeom prst="rect">
            <a:avLst/>
          </a:prstGeom>
          <a:noFill/>
        </p:spPr>
        <p:txBody>
          <a:bodyPr wrap="square">
            <a:spAutoFit/>
          </a:bodyPr>
          <a:lstStyle/>
          <a:p>
            <a:pPr>
              <a:defRPr sz="5200" b="0">
                <a:solidFill>
                  <a:srgbClr val="1C2521"/>
                </a:solidFill>
                <a:latin typeface="Georgia"/>
              </a:defRPr>
            </a:pPr>
            <a:r>
              <a:t>Give Amanda</a:t>
            </a:r>
          </a:p>
          <a:p>
            <a:pPr>
              <a:defRPr sz="5200" b="0">
                <a:solidFill>
                  <a:srgbClr val="1C2521"/>
                </a:solidFill>
                <a:latin typeface="Georgia"/>
              </a:defRPr>
            </a:pPr>
            <a:r>
              <a:t>a usable workbook.</a:t>
            </a:r>
          </a:p>
        </p:txBody>
      </p:sp>
      <p:sp>
        <p:nvSpPr>
          <p:cNvPr id="4" name="TextBox 3"/>
          <p:cNvSpPr txBox="1"/>
          <p:nvPr/>
        </p:nvSpPr>
        <p:spPr>
          <a:xfrm>
            <a:off x="804672" y="3794760"/>
            <a:ext cx="3931920" cy="1920240"/>
          </a:xfrm>
          <a:prstGeom prst="rect">
            <a:avLst/>
          </a:prstGeom>
          <a:noFill/>
        </p:spPr>
        <p:txBody>
          <a:bodyPr wrap="square">
            <a:spAutoFit/>
          </a:bodyPr>
          <a:lstStyle/>
          <a:p>
            <a:pPr>
              <a:defRPr sz="2300" b="0">
                <a:solidFill>
                  <a:srgbClr val="5D655F"/>
                </a:solidFill>
                <a:latin typeface="Arial"/>
              </a:defRPr>
            </a:pPr>
            <a:r>
              <a:t>A monthly summary, 30 daily tabs, normalized records, modeled inputs and source evidence—all from the same snapshot.</a:t>
            </a:r>
          </a:p>
        </p:txBody>
      </p:sp>
      <p:pic>
        <p:nvPicPr>
          <p:cNvPr id="5" name="Picture 4" descr="workbook.png"/>
          <p:cNvPicPr>
            <a:picLocks noChangeAspect="1"/>
          </p:cNvPicPr>
          <p:nvPr/>
        </p:nvPicPr>
        <p:blipFill>
          <a:blip r:embed="rId2"/>
          <a:stretch>
            <a:fillRect/>
          </a:stretch>
        </p:blipFill>
        <p:spPr>
          <a:xfrm>
            <a:off x="5859018" y="1234440"/>
            <a:ext cx="7886700" cy="5257800"/>
          </a:xfrm>
          <a:prstGeom prst="rect">
            <a:avLst/>
          </a:prstGeom>
        </p:spPr>
      </p:pic>
      <p:sp>
        <p:nvSpPr>
          <p:cNvPr id="6" name="TextBox 5"/>
          <p:cNvSpPr txBox="1"/>
          <p:nvPr/>
        </p:nvSpPr>
        <p:spPr>
          <a:xfrm>
            <a:off x="5596128" y="6537960"/>
            <a:ext cx="8412480" cy="457200"/>
          </a:xfrm>
          <a:prstGeom prst="rect">
            <a:avLst/>
          </a:prstGeom>
          <a:noFill/>
        </p:spPr>
        <p:txBody>
          <a:bodyPr wrap="square">
            <a:spAutoFit/>
          </a:bodyPr>
          <a:lstStyle/>
          <a:p>
            <a:pPr>
              <a:defRPr sz="1300" b="0">
                <a:solidFill>
                  <a:srgbClr val="5D655F"/>
                </a:solidFill>
                <a:latin typeface="Arial"/>
              </a:defRPr>
            </a:pPr>
            <a:r>
              <a:t>Preview rendered from the actual exported XLSX values</a:t>
            </a:r>
          </a:p>
        </p:txBody>
      </p:sp>
      <p:sp>
        <p:nvSpPr>
          <p:cNvPr id="7" name="TextBox 6"/>
          <p:cNvSpPr txBox="1"/>
          <p:nvPr/>
        </p:nvSpPr>
        <p:spPr>
          <a:xfrm>
            <a:off x="804672" y="7699248"/>
            <a:ext cx="11887200" cy="274320"/>
          </a:xfrm>
          <a:prstGeom prst="rect">
            <a:avLst/>
          </a:prstGeom>
          <a:noFill/>
        </p:spPr>
        <p:txBody>
          <a:bodyPr wrap="square">
            <a:spAutoFit/>
          </a:bodyPr>
          <a:lstStyle/>
          <a:p>
            <a:pPr>
              <a:defRPr sz="1100" b="0">
                <a:solidFill>
                  <a:srgbClr val="5D655F"/>
                </a:solidFill>
                <a:latin typeface="Arial"/>
              </a:defRPr>
            </a:pPr>
            <a:r>
              <a:t>Sources: DEMO · AMANDA · CONTRACT   |   AIMSIGH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804672" y="594360"/>
            <a:ext cx="12801600" cy="365760"/>
          </a:xfrm>
          <a:prstGeom prst="rect">
            <a:avLst/>
          </a:prstGeom>
          <a:noFill/>
        </p:spPr>
        <p:txBody>
          <a:bodyPr wrap="square">
            <a:spAutoFit/>
          </a:bodyPr>
          <a:lstStyle/>
          <a:p>
            <a:pPr>
              <a:defRPr sz="1600" b="1">
                <a:solidFill>
                  <a:srgbClr val="2E7D5B"/>
                </a:solidFill>
                <a:latin typeface="Arial"/>
              </a:defRPr>
            </a:pPr>
            <a:r>
              <a:t>DEFINITIONS BEFORE CLAIMS</a:t>
            </a:r>
          </a:p>
        </p:txBody>
      </p:sp>
      <p:sp>
        <p:nvSpPr>
          <p:cNvPr id="3" name="TextBox 2"/>
          <p:cNvSpPr txBox="1"/>
          <p:nvPr/>
        </p:nvSpPr>
        <p:spPr>
          <a:xfrm>
            <a:off x="804672" y="1143000"/>
            <a:ext cx="12801600" cy="2194560"/>
          </a:xfrm>
          <a:prstGeom prst="rect">
            <a:avLst/>
          </a:prstGeom>
          <a:noFill/>
        </p:spPr>
        <p:txBody>
          <a:bodyPr wrap="square">
            <a:spAutoFit/>
          </a:bodyPr>
          <a:lstStyle/>
          <a:p>
            <a:pPr>
              <a:defRPr sz="6200" b="0">
                <a:solidFill>
                  <a:srgbClr val="1C2521"/>
                </a:solidFill>
                <a:latin typeface="Georgia"/>
              </a:defRPr>
            </a:pPr>
            <a:r>
              <a:t>Sales are measured.</a:t>
            </a:r>
          </a:p>
          <a:p>
            <a:pPr>
              <a:defRPr sz="6200" b="0">
                <a:solidFill>
                  <a:srgbClr val="1C2521"/>
                </a:solidFill>
                <a:latin typeface="Georgia"/>
              </a:defRPr>
            </a:pPr>
            <a:r>
              <a:t>The model is disclosed.</a:t>
            </a:r>
          </a:p>
        </p:txBody>
      </p:sp>
      <p:sp>
        <p:nvSpPr>
          <p:cNvPr id="4" name="TextBox 3"/>
          <p:cNvSpPr txBox="1"/>
          <p:nvPr/>
        </p:nvSpPr>
        <p:spPr>
          <a:xfrm>
            <a:off x="804672" y="3063240"/>
            <a:ext cx="12618720" cy="1920240"/>
          </a:xfrm>
          <a:prstGeom prst="rect">
            <a:avLst/>
          </a:prstGeom>
          <a:noFill/>
        </p:spPr>
        <p:txBody>
          <a:bodyPr wrap="square">
            <a:spAutoFit/>
          </a:bodyPr>
          <a:lstStyle/>
          <a:p>
            <a:pPr>
              <a:defRPr sz="2500" b="0">
                <a:solidFill>
                  <a:srgbClr val="5D655F"/>
                </a:solidFill>
                <a:latin typeface="Arial"/>
              </a:defRPr>
            </a:pPr>
            <a:r>
              <a:t>Demo net sales = item sales − refunds. Shipping collected, taxes and fees are excluded from that metric.</a:t>
            </a:r>
          </a:p>
        </p:txBody>
      </p:sp>
      <p:sp>
        <p:nvSpPr>
          <p:cNvPr id="5" name="Rounded Rectangle 4"/>
          <p:cNvSpPr/>
          <p:nvPr/>
        </p:nvSpPr>
        <p:spPr>
          <a:xfrm>
            <a:off x="804672" y="4315968"/>
            <a:ext cx="4160520" cy="2423160"/>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4526280"/>
            <a:ext cx="3675887" cy="548640"/>
          </a:xfrm>
          <a:prstGeom prst="rect">
            <a:avLst/>
          </a:prstGeom>
          <a:noFill/>
        </p:spPr>
        <p:txBody>
          <a:bodyPr wrap="square">
            <a:spAutoFit/>
          </a:bodyPr>
          <a:lstStyle/>
          <a:p>
            <a:pPr>
              <a:defRPr sz="2700" b="0">
                <a:solidFill>
                  <a:srgbClr val="1C2521"/>
                </a:solidFill>
                <a:latin typeface="Georgia"/>
              </a:defRPr>
            </a:pPr>
            <a:r>
              <a:t>Labor assumptions</a:t>
            </a:r>
          </a:p>
        </p:txBody>
      </p:sp>
      <p:sp>
        <p:nvSpPr>
          <p:cNvPr id="7" name="TextBox 6"/>
          <p:cNvSpPr txBox="1"/>
          <p:nvPr/>
        </p:nvSpPr>
        <p:spPr>
          <a:xfrm>
            <a:off x="1033271" y="5212080"/>
            <a:ext cx="3675887" cy="1307592"/>
          </a:xfrm>
          <a:prstGeom prst="rect">
            <a:avLst/>
          </a:prstGeom>
          <a:noFill/>
        </p:spPr>
        <p:txBody>
          <a:bodyPr wrap="square">
            <a:spAutoFit/>
          </a:bodyPr>
          <a:lstStyle/>
          <a:p>
            <a:pPr>
              <a:defRPr sz="2000" b="0">
                <a:solidFill>
                  <a:srgbClr val="5D655F"/>
                </a:solidFill>
                <a:latin typeface="Arial"/>
              </a:defRPr>
            </a:pPr>
            <a:r>
              <a:t>Upright: 2 h/store/day, then 3 h from Sept 24. Cash Monkey: 0.5 h/store/day.</a:t>
            </a:r>
          </a:p>
        </p:txBody>
      </p:sp>
      <p:sp>
        <p:nvSpPr>
          <p:cNvPr id="8" name="Rounded Rectangle 7"/>
          <p:cNvSpPr/>
          <p:nvPr/>
        </p:nvSpPr>
        <p:spPr>
          <a:xfrm>
            <a:off x="5212080" y="4315968"/>
            <a:ext cx="4160520" cy="2423160"/>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40680" y="4526280"/>
            <a:ext cx="3675887" cy="548640"/>
          </a:xfrm>
          <a:prstGeom prst="rect">
            <a:avLst/>
          </a:prstGeom>
          <a:noFill/>
        </p:spPr>
        <p:txBody>
          <a:bodyPr wrap="square">
            <a:spAutoFit/>
          </a:bodyPr>
          <a:lstStyle/>
          <a:p>
            <a:pPr>
              <a:defRPr sz="2700" b="0">
                <a:solidFill>
                  <a:srgbClr val="1C2521"/>
                </a:solidFill>
                <a:latin typeface="Georgia"/>
              </a:defRPr>
            </a:pPr>
            <a:r>
              <a:t>Cost assumptions</a:t>
            </a:r>
          </a:p>
        </p:txBody>
      </p:sp>
      <p:sp>
        <p:nvSpPr>
          <p:cNvPr id="10" name="TextBox 9"/>
          <p:cNvSpPr txBox="1"/>
          <p:nvPr/>
        </p:nvSpPr>
        <p:spPr>
          <a:xfrm>
            <a:off x="5440680" y="5212080"/>
            <a:ext cx="3675887" cy="1307592"/>
          </a:xfrm>
          <a:prstGeom prst="rect">
            <a:avLst/>
          </a:prstGeom>
          <a:noFill/>
        </p:spPr>
        <p:txBody>
          <a:bodyPr wrap="square">
            <a:spAutoFit/>
          </a:bodyPr>
          <a:lstStyle/>
          <a:p>
            <a:pPr>
              <a:defRPr sz="2000" b="0">
                <a:solidFill>
                  <a:srgbClr val="5D655F"/>
                </a:solidFill>
                <a:latin typeface="Arial"/>
              </a:defRPr>
            </a:pPr>
            <a:r>
              <a:t>Source fees; invented $3.50 shipping/record and $20/h labor.</a:t>
            </a:r>
          </a:p>
        </p:txBody>
      </p:sp>
      <p:sp>
        <p:nvSpPr>
          <p:cNvPr id="11" name="Rounded Rectangle 10"/>
          <p:cNvSpPr/>
          <p:nvPr/>
        </p:nvSpPr>
        <p:spPr>
          <a:xfrm>
            <a:off x="9619488" y="4315968"/>
            <a:ext cx="4160520" cy="2423160"/>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48088" y="4526280"/>
            <a:ext cx="3675887" cy="548640"/>
          </a:xfrm>
          <a:prstGeom prst="rect">
            <a:avLst/>
          </a:prstGeom>
          <a:noFill/>
        </p:spPr>
        <p:txBody>
          <a:bodyPr wrap="square">
            <a:spAutoFit/>
          </a:bodyPr>
          <a:lstStyle/>
          <a:p>
            <a:pPr>
              <a:defRPr sz="2700" b="0">
                <a:solidFill>
                  <a:srgbClr val="1C2521"/>
                </a:solidFill>
                <a:latin typeface="Georgia"/>
              </a:defRPr>
            </a:pPr>
            <a:r>
              <a:t>Contribution margin</a:t>
            </a:r>
          </a:p>
        </p:txBody>
      </p:sp>
      <p:sp>
        <p:nvSpPr>
          <p:cNvPr id="13" name="TextBox 12"/>
          <p:cNvSpPr txBox="1"/>
          <p:nvPr/>
        </p:nvSpPr>
        <p:spPr>
          <a:xfrm>
            <a:off x="9848088" y="5212080"/>
            <a:ext cx="3675887" cy="1307592"/>
          </a:xfrm>
          <a:prstGeom prst="rect">
            <a:avLst/>
          </a:prstGeom>
          <a:noFill/>
        </p:spPr>
        <p:txBody>
          <a:bodyPr wrap="square">
            <a:spAutoFit/>
          </a:bodyPr>
          <a:lstStyle/>
          <a:p>
            <a:pPr>
              <a:defRPr sz="2000" b="0">
                <a:solidFill>
                  <a:srgbClr val="5D655F"/>
                </a:solidFill>
                <a:latin typeface="Arial"/>
              </a:defRPr>
            </a:pPr>
            <a:r>
              <a:t>Net sales less fees, modeled shipping and labor. Excludes overhead and taxes.</a:t>
            </a:r>
          </a:p>
        </p:txBody>
      </p:sp>
      <p:sp>
        <p:nvSpPr>
          <p:cNvPr id="14" name="TextBox 13"/>
          <p:cNvSpPr txBox="1"/>
          <p:nvPr/>
        </p:nvSpPr>
        <p:spPr>
          <a:xfrm>
            <a:off x="804672" y="7699248"/>
            <a:ext cx="11887200" cy="274320"/>
          </a:xfrm>
          <a:prstGeom prst="rect">
            <a:avLst/>
          </a:prstGeom>
          <a:noFill/>
        </p:spPr>
        <p:txBody>
          <a:bodyPr wrap="square">
            <a:spAutoFit/>
          </a:bodyPr>
          <a:lstStyle/>
          <a:p>
            <a:pPr>
              <a:defRPr sz="1100" b="0">
                <a:solidFill>
                  <a:srgbClr val="5D655F"/>
                </a:solidFill>
                <a:latin typeface="Arial"/>
              </a:defRPr>
            </a:pPr>
            <a:r>
              <a:t>Sources: PLAN · CONTRACT   |   AIMSIGH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804672" y="594360"/>
            <a:ext cx="12801600" cy="365760"/>
          </a:xfrm>
          <a:prstGeom prst="rect">
            <a:avLst/>
          </a:prstGeom>
          <a:noFill/>
        </p:spPr>
        <p:txBody>
          <a:bodyPr wrap="square">
            <a:spAutoFit/>
          </a:bodyPr>
          <a:lstStyle/>
          <a:p>
            <a:pPr>
              <a:defRPr sz="1600" b="1">
                <a:solidFill>
                  <a:srgbClr val="2E7D5B"/>
                </a:solidFill>
                <a:latin typeface="Arial"/>
              </a:defRPr>
            </a:pPr>
            <a:r>
              <a:t>03 · UNDERSTAND</a:t>
            </a:r>
          </a:p>
        </p:txBody>
      </p:sp>
      <p:sp>
        <p:nvSpPr>
          <p:cNvPr id="3" name="TextBox 2"/>
          <p:cNvSpPr txBox="1"/>
          <p:nvPr/>
        </p:nvSpPr>
        <p:spPr>
          <a:xfrm>
            <a:off x="804672" y="1143000"/>
            <a:ext cx="4114800" cy="2194560"/>
          </a:xfrm>
          <a:prstGeom prst="rect">
            <a:avLst/>
          </a:prstGeom>
          <a:noFill/>
        </p:spPr>
        <p:txBody>
          <a:bodyPr wrap="square">
            <a:spAutoFit/>
          </a:bodyPr>
          <a:lstStyle/>
          <a:p>
            <a:pPr>
              <a:defRPr sz="5200" b="0">
                <a:solidFill>
                  <a:srgbClr val="1C2521"/>
                </a:solidFill>
                <a:latin typeface="Georgia"/>
              </a:defRPr>
            </a:pPr>
            <a:r>
              <a:t>The charts follow</a:t>
            </a:r>
          </a:p>
          <a:p>
            <a:pPr>
              <a:defRPr sz="5200" b="0">
                <a:solidFill>
                  <a:srgbClr val="1C2521"/>
                </a:solidFill>
                <a:latin typeface="Georgia"/>
              </a:defRPr>
            </a:pPr>
            <a:r>
              <a:t>the verified data.</a:t>
            </a:r>
          </a:p>
        </p:txBody>
      </p:sp>
      <p:sp>
        <p:nvSpPr>
          <p:cNvPr id="4" name="TextBox 3"/>
          <p:cNvSpPr txBox="1"/>
          <p:nvPr/>
        </p:nvSpPr>
        <p:spPr>
          <a:xfrm>
            <a:off x="804672" y="3794760"/>
            <a:ext cx="3931920" cy="1920240"/>
          </a:xfrm>
          <a:prstGeom prst="rect">
            <a:avLst/>
          </a:prstGeom>
          <a:noFill/>
        </p:spPr>
        <p:txBody>
          <a:bodyPr wrap="square">
            <a:spAutoFit/>
          </a:bodyPr>
          <a:lstStyle/>
          <a:p>
            <a:pPr>
              <a:defRPr sz="2300" b="0">
                <a:solidFill>
                  <a:srgbClr val="5D655F"/>
                </a:solidFill>
                <a:latin typeface="Arial"/>
              </a:defRPr>
            </a:pPr>
            <a:r>
              <a:t>Daily trends, source and store breakdowns, productivity, coverage and freshness share the selected snapshot.</a:t>
            </a:r>
          </a:p>
        </p:txBody>
      </p:sp>
      <p:pic>
        <p:nvPicPr>
          <p:cNvPr id="5" name="Picture 4" descr="dashboard.png"/>
          <p:cNvPicPr>
            <a:picLocks noChangeAspect="1"/>
          </p:cNvPicPr>
          <p:nvPr/>
        </p:nvPicPr>
        <p:blipFill>
          <a:blip r:embed="rId2"/>
          <a:stretch>
            <a:fillRect/>
          </a:stretch>
        </p:blipFill>
        <p:spPr>
          <a:xfrm>
            <a:off x="5859018" y="1234440"/>
            <a:ext cx="7886700" cy="5257800"/>
          </a:xfrm>
          <a:prstGeom prst="rect">
            <a:avLst/>
          </a:prstGeom>
        </p:spPr>
      </p:pic>
      <p:sp>
        <p:nvSpPr>
          <p:cNvPr id="6" name="TextBox 5"/>
          <p:cNvSpPr txBox="1"/>
          <p:nvPr/>
        </p:nvSpPr>
        <p:spPr>
          <a:xfrm>
            <a:off x="5596128" y="6537960"/>
            <a:ext cx="8412480" cy="457200"/>
          </a:xfrm>
          <a:prstGeom prst="rect">
            <a:avLst/>
          </a:prstGeom>
          <a:noFill/>
        </p:spPr>
        <p:txBody>
          <a:bodyPr wrap="square">
            <a:spAutoFit/>
          </a:bodyPr>
          <a:lstStyle/>
          <a:p>
            <a:pPr>
              <a:defRPr sz="1300" b="0">
                <a:solidFill>
                  <a:srgbClr val="5D655F"/>
                </a:solidFill>
                <a:latin typeface="Arial"/>
              </a:defRPr>
            </a:pPr>
            <a:r>
              <a:t>Actual API-backed September showcase dashboard</a:t>
            </a:r>
          </a:p>
        </p:txBody>
      </p:sp>
      <p:sp>
        <p:nvSpPr>
          <p:cNvPr id="7" name="TextBox 6"/>
          <p:cNvSpPr txBox="1"/>
          <p:nvPr/>
        </p:nvSpPr>
        <p:spPr>
          <a:xfrm>
            <a:off x="804672" y="7699248"/>
            <a:ext cx="11887200" cy="274320"/>
          </a:xfrm>
          <a:prstGeom prst="rect">
            <a:avLst/>
          </a:prstGeom>
          <a:noFill/>
        </p:spPr>
        <p:txBody>
          <a:bodyPr wrap="square">
            <a:spAutoFit/>
          </a:bodyPr>
          <a:lstStyle/>
          <a:p>
            <a:pPr>
              <a:defRPr sz="1100" b="0">
                <a:solidFill>
                  <a:srgbClr val="5D655F"/>
                </a:solidFill>
                <a:latin typeface="Arial"/>
              </a:defRPr>
            </a:pPr>
            <a:r>
              <a:t>Sources: BRIEF · CONTRACT   |   AIMSIGH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804672" y="594360"/>
            <a:ext cx="12801600" cy="365760"/>
          </a:xfrm>
          <a:prstGeom prst="rect">
            <a:avLst/>
          </a:prstGeom>
          <a:noFill/>
        </p:spPr>
        <p:txBody>
          <a:bodyPr wrap="square">
            <a:spAutoFit/>
          </a:bodyPr>
          <a:lstStyle/>
          <a:p>
            <a:pPr>
              <a:defRPr sz="1600" b="1">
                <a:solidFill>
                  <a:srgbClr val="2E7D5B"/>
                </a:solidFill>
                <a:latin typeface="Arial"/>
              </a:defRPr>
            </a:pPr>
            <a:r>
              <a:t>LIVE · A COMPARISON YOU CAN INSPECT</a:t>
            </a:r>
          </a:p>
        </p:txBody>
      </p:sp>
      <p:sp>
        <p:nvSpPr>
          <p:cNvPr id="3" name="TextBox 2"/>
          <p:cNvSpPr txBox="1"/>
          <p:nvPr/>
        </p:nvSpPr>
        <p:spPr>
          <a:xfrm>
            <a:off x="804672" y="1143000"/>
            <a:ext cx="4114800" cy="2194560"/>
          </a:xfrm>
          <a:prstGeom prst="rect">
            <a:avLst/>
          </a:prstGeom>
          <a:noFill/>
        </p:spPr>
        <p:txBody>
          <a:bodyPr wrap="square">
            <a:spAutoFit/>
          </a:bodyPr>
          <a:lstStyle/>
          <a:p>
            <a:pPr>
              <a:defRPr sz="5200" b="0">
                <a:solidFill>
                  <a:srgbClr val="1C2521"/>
                </a:solidFill>
                <a:latin typeface="Georgia"/>
              </a:defRPr>
            </a:pPr>
            <a:r>
              <a:t>Revenue rose.</a:t>
            </a:r>
          </a:p>
          <a:p>
            <a:pPr>
              <a:defRPr sz="5200" b="0">
                <a:solidFill>
                  <a:srgbClr val="1C2521"/>
                </a:solidFill>
                <a:latin typeface="Georgia"/>
              </a:defRPr>
            </a:pPr>
            <a:r>
              <a:t>Modeled hours rose faster.</a:t>
            </a:r>
          </a:p>
        </p:txBody>
      </p:sp>
      <p:sp>
        <p:nvSpPr>
          <p:cNvPr id="4" name="TextBox 3"/>
          <p:cNvSpPr txBox="1"/>
          <p:nvPr/>
        </p:nvSpPr>
        <p:spPr>
          <a:xfrm>
            <a:off x="804672" y="3794760"/>
            <a:ext cx="3931920" cy="1920240"/>
          </a:xfrm>
          <a:prstGeom prst="rect">
            <a:avLst/>
          </a:prstGeom>
          <a:noFill/>
        </p:spPr>
        <p:txBody>
          <a:bodyPr wrap="square">
            <a:spAutoFit/>
          </a:bodyPr>
          <a:lstStyle/>
          <a:p>
            <a:pPr>
              <a:defRPr sz="2300" b="0">
                <a:solidFill>
                  <a:srgbClr val="5D655F"/>
                </a:solidFill>
                <a:latin typeface="Arial"/>
              </a:defRPr>
            </a:pPr>
            <a:r>
              <a:t>The productivity comparison uses matched sales and invented labor inputs across two seven-day periods.</a:t>
            </a:r>
          </a:p>
        </p:txBody>
      </p:sp>
      <p:pic>
        <p:nvPicPr>
          <p:cNvPr id="5" name="Picture 4" descr="comparison.png"/>
          <p:cNvPicPr>
            <a:picLocks noChangeAspect="1"/>
          </p:cNvPicPr>
          <p:nvPr/>
        </p:nvPicPr>
        <p:blipFill>
          <a:blip r:embed="rId2"/>
          <a:stretch>
            <a:fillRect/>
          </a:stretch>
        </p:blipFill>
        <p:spPr>
          <a:xfrm>
            <a:off x="5859018" y="1234440"/>
            <a:ext cx="7886700" cy="5257800"/>
          </a:xfrm>
          <a:prstGeom prst="rect">
            <a:avLst/>
          </a:prstGeom>
        </p:spPr>
      </p:pic>
      <p:sp>
        <p:nvSpPr>
          <p:cNvPr id="6" name="TextBox 5"/>
          <p:cNvSpPr txBox="1"/>
          <p:nvPr/>
        </p:nvSpPr>
        <p:spPr>
          <a:xfrm>
            <a:off x="5596128" y="6537960"/>
            <a:ext cx="8412480" cy="457200"/>
          </a:xfrm>
          <a:prstGeom prst="rect">
            <a:avLst/>
          </a:prstGeom>
          <a:noFill/>
        </p:spPr>
        <p:txBody>
          <a:bodyPr wrap="square">
            <a:spAutoFit/>
          </a:bodyPr>
          <a:lstStyle/>
          <a:p>
            <a:pPr>
              <a:defRPr sz="1300" b="0">
                <a:solidFill>
                  <a:srgbClr val="5D655F"/>
                </a:solidFill>
                <a:latin typeface="Arial"/>
              </a:defRPr>
            </a:pPr>
            <a:r>
              <a:t>Actual September 17–23 and September 24–30 comparison</a:t>
            </a:r>
          </a:p>
        </p:txBody>
      </p:sp>
      <p:sp>
        <p:nvSpPr>
          <p:cNvPr id="7" name="TextBox 6"/>
          <p:cNvSpPr txBox="1"/>
          <p:nvPr/>
        </p:nvSpPr>
        <p:spPr>
          <a:xfrm>
            <a:off x="804672" y="7699248"/>
            <a:ext cx="11887200" cy="274320"/>
          </a:xfrm>
          <a:prstGeom prst="rect">
            <a:avLst/>
          </a:prstGeom>
          <a:noFill/>
        </p:spPr>
        <p:txBody>
          <a:bodyPr wrap="square">
            <a:spAutoFit/>
          </a:bodyPr>
          <a:lstStyle/>
          <a:p>
            <a:pPr>
              <a:defRPr sz="1100" b="0">
                <a:solidFill>
                  <a:srgbClr val="5D655F"/>
                </a:solidFill>
                <a:latin typeface="Arial"/>
              </a:defRPr>
            </a:pPr>
            <a:r>
              <a:t>Sources: CONTRACT   |   AIMSIGH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804672" y="594360"/>
            <a:ext cx="12801600" cy="365760"/>
          </a:xfrm>
          <a:prstGeom prst="rect">
            <a:avLst/>
          </a:prstGeom>
          <a:noFill/>
        </p:spPr>
        <p:txBody>
          <a:bodyPr wrap="square">
            <a:spAutoFit/>
          </a:bodyPr>
          <a:lstStyle/>
          <a:p>
            <a:pPr>
              <a:defRPr sz="1600" b="1">
                <a:solidFill>
                  <a:srgbClr val="2E7D5B"/>
                </a:solidFill>
                <a:latin typeface="Arial"/>
              </a:defRPr>
            </a:pPr>
            <a:r>
              <a:t>LIVE · ANSWERS WHERE THE TEAM WORKS</a:t>
            </a:r>
          </a:p>
        </p:txBody>
      </p:sp>
      <p:sp>
        <p:nvSpPr>
          <p:cNvPr id="3" name="TextBox 2"/>
          <p:cNvSpPr txBox="1"/>
          <p:nvPr/>
        </p:nvSpPr>
        <p:spPr>
          <a:xfrm>
            <a:off x="804672" y="1143000"/>
            <a:ext cx="4114800" cy="2194560"/>
          </a:xfrm>
          <a:prstGeom prst="rect">
            <a:avLst/>
          </a:prstGeom>
          <a:noFill/>
        </p:spPr>
        <p:txBody>
          <a:bodyPr wrap="square">
            <a:spAutoFit/>
          </a:bodyPr>
          <a:lstStyle/>
          <a:p>
            <a:pPr>
              <a:defRPr sz="5200" b="0">
                <a:solidFill>
                  <a:srgbClr val="1C2521"/>
                </a:solidFill>
                <a:latin typeface="Georgia"/>
              </a:defRPr>
            </a:pPr>
            <a:r>
              <a:t>“Why is revenue</a:t>
            </a:r>
          </a:p>
          <a:p>
            <a:pPr>
              <a:defRPr sz="5200" b="0">
                <a:solidFill>
                  <a:srgbClr val="1C2521"/>
                </a:solidFill>
                <a:latin typeface="Georgia"/>
              </a:defRPr>
            </a:pPr>
            <a:r>
              <a:t>per labor hour down?”</a:t>
            </a:r>
          </a:p>
        </p:txBody>
      </p:sp>
      <p:sp>
        <p:nvSpPr>
          <p:cNvPr id="4" name="TextBox 3"/>
          <p:cNvSpPr txBox="1"/>
          <p:nvPr/>
        </p:nvSpPr>
        <p:spPr>
          <a:xfrm>
            <a:off x="804672" y="3794760"/>
            <a:ext cx="3931920" cy="1920240"/>
          </a:xfrm>
          <a:prstGeom prst="rect">
            <a:avLst/>
          </a:prstGeom>
          <a:noFill/>
        </p:spPr>
        <p:txBody>
          <a:bodyPr wrap="square">
            <a:spAutoFit/>
          </a:bodyPr>
          <a:lstStyle/>
          <a:p>
            <a:pPr>
              <a:defRPr sz="2300" b="0">
                <a:solidFill>
                  <a:srgbClr val="5D655F"/>
                </a:solidFill>
                <a:latin typeface="Arial"/>
              </a:defRPr>
            </a:pPr>
            <a:r>
              <a:t>A Teams-style local channel answers supported questions with deterministic tools, periods, definitions and evidence links.</a:t>
            </a:r>
          </a:p>
        </p:txBody>
      </p:sp>
      <p:pic>
        <p:nvPicPr>
          <p:cNvPr id="5" name="Picture 4" descr="conversation.png"/>
          <p:cNvPicPr>
            <a:picLocks noChangeAspect="1"/>
          </p:cNvPicPr>
          <p:nvPr/>
        </p:nvPicPr>
        <p:blipFill>
          <a:blip r:embed="rId2"/>
          <a:stretch>
            <a:fillRect/>
          </a:stretch>
        </p:blipFill>
        <p:spPr>
          <a:xfrm>
            <a:off x="5859018" y="1234440"/>
            <a:ext cx="7886700" cy="5257800"/>
          </a:xfrm>
          <a:prstGeom prst="rect">
            <a:avLst/>
          </a:prstGeom>
        </p:spPr>
      </p:pic>
      <p:sp>
        <p:nvSpPr>
          <p:cNvPr id="6" name="TextBox 5"/>
          <p:cNvSpPr txBox="1"/>
          <p:nvPr/>
        </p:nvSpPr>
        <p:spPr>
          <a:xfrm>
            <a:off x="5596128" y="6537960"/>
            <a:ext cx="8412480" cy="457200"/>
          </a:xfrm>
          <a:prstGeom prst="rect">
            <a:avLst/>
          </a:prstGeom>
          <a:noFill/>
        </p:spPr>
        <p:txBody>
          <a:bodyPr wrap="square">
            <a:spAutoFit/>
          </a:bodyPr>
          <a:lstStyle/>
          <a:p>
            <a:pPr>
              <a:defRPr sz="1300" b="0">
                <a:solidFill>
                  <a:srgbClr val="5D655F"/>
                </a:solidFill>
                <a:latin typeface="Arial"/>
              </a:defRPr>
            </a:pPr>
            <a:r>
              <a:t>Actual model-free local conversation beside its dashboard</a:t>
            </a:r>
          </a:p>
        </p:txBody>
      </p:sp>
      <p:sp>
        <p:nvSpPr>
          <p:cNvPr id="7" name="TextBox 6"/>
          <p:cNvSpPr txBox="1"/>
          <p:nvPr/>
        </p:nvSpPr>
        <p:spPr>
          <a:xfrm>
            <a:off x="804672" y="7699248"/>
            <a:ext cx="11887200" cy="274320"/>
          </a:xfrm>
          <a:prstGeom prst="rect">
            <a:avLst/>
          </a:prstGeom>
          <a:noFill/>
        </p:spPr>
        <p:txBody>
          <a:bodyPr wrap="square">
            <a:spAutoFit/>
          </a:bodyPr>
          <a:lstStyle/>
          <a:p>
            <a:pPr>
              <a:defRPr sz="1100" b="0">
                <a:solidFill>
                  <a:srgbClr val="5D655F"/>
                </a:solidFill>
                <a:latin typeface="Arial"/>
              </a:defRPr>
            </a:pPr>
            <a:r>
              <a:t>Sources: DEMO · PLAN · CONTRACT   |   AIMSIGH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804672" y="594360"/>
            <a:ext cx="12801600" cy="365760"/>
          </a:xfrm>
          <a:prstGeom prst="rect">
            <a:avLst/>
          </a:prstGeom>
          <a:noFill/>
        </p:spPr>
        <p:txBody>
          <a:bodyPr wrap="square">
            <a:spAutoFit/>
          </a:bodyPr>
          <a:lstStyle/>
          <a:p>
            <a:pPr>
              <a:defRPr sz="1600" b="1">
                <a:solidFill>
                  <a:srgbClr val="2E7D5B"/>
                </a:solidFill>
                <a:latin typeface="Arial"/>
              </a:defRPr>
            </a:pPr>
            <a:r>
              <a:t>NEXT · A SUPERVISED GOODWILL PILOT</a:t>
            </a:r>
          </a:p>
        </p:txBody>
      </p:sp>
      <p:sp>
        <p:nvSpPr>
          <p:cNvPr id="3" name="TextBox 2"/>
          <p:cNvSpPr txBox="1"/>
          <p:nvPr/>
        </p:nvSpPr>
        <p:spPr>
          <a:xfrm>
            <a:off x="804672" y="1143000"/>
            <a:ext cx="12801600" cy="2194560"/>
          </a:xfrm>
          <a:prstGeom prst="rect">
            <a:avLst/>
          </a:prstGeom>
          <a:noFill/>
        </p:spPr>
        <p:txBody>
          <a:bodyPr wrap="square">
            <a:spAutoFit/>
          </a:bodyPr>
          <a:lstStyle/>
          <a:p>
            <a:pPr>
              <a:defRPr sz="6200" b="0">
                <a:solidFill>
                  <a:srgbClr val="1C2521"/>
                </a:solidFill>
                <a:latin typeface="Georgia"/>
              </a:defRPr>
            </a:pPr>
            <a:r>
              <a:t>Fit the workflow</a:t>
            </a:r>
          </a:p>
          <a:p>
            <a:pPr>
              <a:defRPr sz="6200" b="0">
                <a:solidFill>
                  <a:srgbClr val="1C2521"/>
                </a:solidFill>
                <a:latin typeface="Georgia"/>
              </a:defRPr>
            </a:pPr>
            <a:r>
              <a:t>to Goodwill’s tools.</a:t>
            </a:r>
          </a:p>
        </p:txBody>
      </p:sp>
      <p:sp>
        <p:nvSpPr>
          <p:cNvPr id="4" name="TextBox 3"/>
          <p:cNvSpPr txBox="1"/>
          <p:nvPr/>
        </p:nvSpPr>
        <p:spPr>
          <a:xfrm>
            <a:off x="804672" y="3063240"/>
            <a:ext cx="12618720" cy="1920240"/>
          </a:xfrm>
          <a:prstGeom prst="rect">
            <a:avLst/>
          </a:prstGeom>
          <a:noFill/>
        </p:spPr>
        <p:txBody>
          <a:bodyPr wrap="square">
            <a:spAutoFit/>
          </a:bodyPr>
          <a:lstStyle/>
          <a:p>
            <a:pPr>
              <a:defRPr sz="2500" b="0">
                <a:solidFill>
                  <a:srgbClr val="5D655F"/>
                </a:solidFill>
                <a:latin typeface="Arial"/>
              </a:defRPr>
            </a:pPr>
            <a:r>
              <a:t>Validate one authorized source in parallel with current reporting. Reuse Excel and Power BI before choosing new infrastructure.</a:t>
            </a:r>
          </a:p>
        </p:txBody>
      </p:sp>
      <p:sp>
        <p:nvSpPr>
          <p:cNvPr id="5" name="Rounded Rectangle 4"/>
          <p:cNvSpPr/>
          <p:nvPr/>
        </p:nvSpPr>
        <p:spPr>
          <a:xfrm>
            <a:off x="804672" y="4315968"/>
            <a:ext cx="4160520" cy="2423160"/>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4526280"/>
            <a:ext cx="3675887" cy="548640"/>
          </a:xfrm>
          <a:prstGeom prst="rect">
            <a:avLst/>
          </a:prstGeom>
          <a:noFill/>
        </p:spPr>
        <p:txBody>
          <a:bodyPr wrap="square">
            <a:spAutoFit/>
          </a:bodyPr>
          <a:lstStyle/>
          <a:p>
            <a:pPr>
              <a:defRPr sz="2700" b="0">
                <a:solidFill>
                  <a:srgbClr val="1C2521"/>
                </a:solidFill>
                <a:latin typeface="Georgia"/>
              </a:defRPr>
            </a:pPr>
            <a:r>
              <a:t>Approve the inputs</a:t>
            </a:r>
          </a:p>
        </p:txBody>
      </p:sp>
      <p:sp>
        <p:nvSpPr>
          <p:cNvPr id="7" name="TextBox 6"/>
          <p:cNvSpPr txBox="1"/>
          <p:nvPr/>
        </p:nvSpPr>
        <p:spPr>
          <a:xfrm>
            <a:off x="1033271" y="5212080"/>
            <a:ext cx="3675887" cy="1307592"/>
          </a:xfrm>
          <a:prstGeom prst="rect">
            <a:avLst/>
          </a:prstGeom>
          <a:noFill/>
        </p:spPr>
        <p:txBody>
          <a:bodyPr wrap="square">
            <a:spAutoFit/>
          </a:bodyPr>
          <a:lstStyle/>
          <a:p>
            <a:pPr>
              <a:defRPr sz="2000" b="0">
                <a:solidFill>
                  <a:srgbClr val="5D655F"/>
                </a:solidFill>
                <a:latin typeface="Arial"/>
              </a:defRPr>
            </a:pPr>
            <a:r>
              <a:t>Report authority, overlap, real formats, definitions and access.</a:t>
            </a:r>
          </a:p>
        </p:txBody>
      </p:sp>
      <p:sp>
        <p:nvSpPr>
          <p:cNvPr id="8" name="Rounded Rectangle 7"/>
          <p:cNvSpPr/>
          <p:nvPr/>
        </p:nvSpPr>
        <p:spPr>
          <a:xfrm>
            <a:off x="5212080" y="4315968"/>
            <a:ext cx="4160520" cy="2423160"/>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40680" y="4526280"/>
            <a:ext cx="3675887" cy="548640"/>
          </a:xfrm>
          <a:prstGeom prst="rect">
            <a:avLst/>
          </a:prstGeom>
          <a:noFill/>
        </p:spPr>
        <p:txBody>
          <a:bodyPr wrap="square">
            <a:spAutoFit/>
          </a:bodyPr>
          <a:lstStyle/>
          <a:p>
            <a:pPr>
              <a:defRPr sz="2700" b="0">
                <a:solidFill>
                  <a:srgbClr val="1C2521"/>
                </a:solidFill>
                <a:latin typeface="Georgia"/>
              </a:defRPr>
            </a:pPr>
            <a:r>
              <a:t>Fit Microsoft</a:t>
            </a:r>
          </a:p>
        </p:txBody>
      </p:sp>
      <p:sp>
        <p:nvSpPr>
          <p:cNvPr id="10" name="TextBox 9"/>
          <p:cNvSpPr txBox="1"/>
          <p:nvPr/>
        </p:nvSpPr>
        <p:spPr>
          <a:xfrm>
            <a:off x="5440680" y="5212080"/>
            <a:ext cx="3675887" cy="1307592"/>
          </a:xfrm>
          <a:prstGeom prst="rect">
            <a:avLst/>
          </a:prstGeom>
          <a:noFill/>
        </p:spPr>
        <p:txBody>
          <a:bodyPr wrap="square">
            <a:spAutoFit/>
          </a:bodyPr>
          <a:lstStyle/>
          <a:p>
            <a:pPr>
              <a:defRPr sz="2000" b="0">
                <a:solidFill>
                  <a:srgbClr val="5D655F"/>
                </a:solidFill>
                <a:latin typeface="Arial"/>
              </a:defRPr>
            </a:pPr>
            <a:r>
              <a:t>Workbook consumption, Power BI, identity, tenant policy and optional Copilot/Teams.</a:t>
            </a:r>
          </a:p>
        </p:txBody>
      </p:sp>
      <p:sp>
        <p:nvSpPr>
          <p:cNvPr id="11" name="Rounded Rectangle 10"/>
          <p:cNvSpPr/>
          <p:nvPr/>
        </p:nvSpPr>
        <p:spPr>
          <a:xfrm>
            <a:off x="9619488" y="4315968"/>
            <a:ext cx="4160520" cy="2423160"/>
          </a:xfrm>
          <a:prstGeom prst="roundRect">
            <a:avLst/>
          </a:prstGeom>
          <a:solidFill>
            <a:srgbClr val="E5EEE2"/>
          </a:solidFill>
          <a:ln>
            <a:solidFill>
              <a:srgbClr val="C7D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48088" y="4526280"/>
            <a:ext cx="3675887" cy="548640"/>
          </a:xfrm>
          <a:prstGeom prst="rect">
            <a:avLst/>
          </a:prstGeom>
          <a:noFill/>
        </p:spPr>
        <p:txBody>
          <a:bodyPr wrap="square">
            <a:spAutoFit/>
          </a:bodyPr>
          <a:lstStyle/>
          <a:p>
            <a:pPr>
              <a:defRPr sz="2700" b="0">
                <a:solidFill>
                  <a:srgbClr val="1C2521"/>
                </a:solidFill>
                <a:latin typeface="Georgia"/>
              </a:defRPr>
            </a:pPr>
            <a:r>
              <a:t>Own the operation</a:t>
            </a:r>
          </a:p>
        </p:txBody>
      </p:sp>
      <p:sp>
        <p:nvSpPr>
          <p:cNvPr id="13" name="TextBox 12"/>
          <p:cNvSpPr txBox="1"/>
          <p:nvPr/>
        </p:nvSpPr>
        <p:spPr>
          <a:xfrm>
            <a:off x="9848088" y="5212080"/>
            <a:ext cx="3675887" cy="1307592"/>
          </a:xfrm>
          <a:prstGeom prst="rect">
            <a:avLst/>
          </a:prstGeom>
          <a:noFill/>
        </p:spPr>
        <p:txBody>
          <a:bodyPr wrap="square">
            <a:spAutoFit/>
          </a:bodyPr>
          <a:lstStyle/>
          <a:p>
            <a:pPr>
              <a:defRPr sz="2000" b="0">
                <a:solidFill>
                  <a:srgbClr val="5D655F"/>
                </a:solidFill>
                <a:latin typeface="Arial"/>
              </a:defRPr>
            </a:pPr>
            <a:r>
              <a:t>Measure handling time and reliability. Name support, rollback and acceptance owners.</a:t>
            </a:r>
          </a:p>
        </p:txBody>
      </p:sp>
      <p:sp>
        <p:nvSpPr>
          <p:cNvPr id="14" name="TextBox 13"/>
          <p:cNvSpPr txBox="1"/>
          <p:nvPr/>
        </p:nvSpPr>
        <p:spPr>
          <a:xfrm>
            <a:off x="804672" y="7699248"/>
            <a:ext cx="11887200" cy="274320"/>
          </a:xfrm>
          <a:prstGeom prst="rect">
            <a:avLst/>
          </a:prstGeom>
          <a:noFill/>
        </p:spPr>
        <p:txBody>
          <a:bodyPr wrap="square">
            <a:spAutoFit/>
          </a:bodyPr>
          <a:lstStyle/>
          <a:p>
            <a:pPr>
              <a:defRPr sz="1100" b="0">
                <a:solidFill>
                  <a:srgbClr val="5D655F"/>
                </a:solidFill>
                <a:latin typeface="Arial"/>
              </a:defRPr>
            </a:pPr>
            <a:r>
              <a:t>Sources: PITCH · PLAN · AMANDA   |   AIMSIGH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804672" y="594360"/>
            <a:ext cx="12801600" cy="365760"/>
          </a:xfrm>
          <a:prstGeom prst="rect">
            <a:avLst/>
          </a:prstGeom>
          <a:noFill/>
        </p:spPr>
        <p:txBody>
          <a:bodyPr wrap="square">
            <a:spAutoFit/>
          </a:bodyPr>
          <a:lstStyle/>
          <a:p>
            <a:pPr>
              <a:defRPr sz="1600" b="1">
                <a:solidFill>
                  <a:srgbClr val="2E7D5B"/>
                </a:solidFill>
                <a:latin typeface="Arial"/>
              </a:defRPr>
            </a:pPr>
            <a:r>
              <a:t>AIMSIGH · THE WORKING STORY</a:t>
            </a:r>
          </a:p>
        </p:txBody>
      </p:sp>
      <p:sp>
        <p:nvSpPr>
          <p:cNvPr id="3" name="TextBox 2"/>
          <p:cNvSpPr txBox="1"/>
          <p:nvPr/>
        </p:nvSpPr>
        <p:spPr>
          <a:xfrm>
            <a:off x="804672" y="1371600"/>
            <a:ext cx="12801600" cy="3291840"/>
          </a:xfrm>
          <a:prstGeom prst="rect">
            <a:avLst/>
          </a:prstGeom>
          <a:noFill/>
        </p:spPr>
        <p:txBody>
          <a:bodyPr wrap="square">
            <a:spAutoFit/>
          </a:bodyPr>
          <a:lstStyle/>
          <a:p>
            <a:pPr>
              <a:defRPr sz="7200" b="0">
                <a:solidFill>
                  <a:srgbClr val="1C2521"/>
                </a:solidFill>
                <a:latin typeface="Georgia"/>
              </a:defRPr>
            </a:pPr>
            <a:r>
              <a:t>Teach the task.</a:t>
            </a:r>
          </a:p>
          <a:p>
            <a:pPr>
              <a:defRPr sz="7200" b="0">
                <a:solidFill>
                  <a:srgbClr val="1C2521"/>
                </a:solidFill>
                <a:latin typeface="Georgia"/>
              </a:defRPr>
            </a:pPr>
            <a:r>
              <a:t>Keep the proof.</a:t>
            </a:r>
          </a:p>
          <a:p>
            <a:pPr>
              <a:defRPr sz="7200" b="0">
                <a:solidFill>
                  <a:srgbClr val="1C2521"/>
                </a:solidFill>
                <a:latin typeface="Georgia"/>
              </a:defRPr>
            </a:pPr>
            <a:r>
              <a:t>Understand the number.</a:t>
            </a:r>
          </a:p>
        </p:txBody>
      </p:sp>
      <p:sp>
        <p:nvSpPr>
          <p:cNvPr id="4" name="TextBox 3"/>
          <p:cNvSpPr txBox="1"/>
          <p:nvPr/>
        </p:nvSpPr>
        <p:spPr>
          <a:xfrm>
            <a:off x="804672" y="4754880"/>
            <a:ext cx="12618720" cy="1920240"/>
          </a:xfrm>
          <a:prstGeom prst="rect">
            <a:avLst/>
          </a:prstGeom>
          <a:noFill/>
        </p:spPr>
        <p:txBody>
          <a:bodyPr wrap="square">
            <a:spAutoFit/>
          </a:bodyPr>
          <a:lstStyle/>
          <a:p>
            <a:pPr>
              <a:defRPr sz="2500" b="0">
                <a:solidFill>
                  <a:srgbClr val="5D655F"/>
                </a:solidFill>
                <a:latin typeface="Arial"/>
              </a:defRPr>
            </a:pPr>
            <a:r>
              <a:t>Local synthetic showcase · verified sample inputs · downloadable workbook · evidence-backed supported answers.</a:t>
            </a:r>
          </a:p>
        </p:txBody>
      </p:sp>
      <p:sp>
        <p:nvSpPr>
          <p:cNvPr id="5" name="TextBox 4"/>
          <p:cNvSpPr txBox="1"/>
          <p:nvPr/>
        </p:nvSpPr>
        <p:spPr>
          <a:xfrm>
            <a:off x="804672" y="6446520"/>
            <a:ext cx="12801600" cy="731520"/>
          </a:xfrm>
          <a:prstGeom prst="rect">
            <a:avLst/>
          </a:prstGeom>
          <a:noFill/>
        </p:spPr>
        <p:txBody>
          <a:bodyPr wrap="square">
            <a:spAutoFit/>
          </a:bodyPr>
          <a:lstStyle/>
          <a:p>
            <a:pPr>
              <a:defRPr sz="2300" b="0">
                <a:solidFill>
                  <a:srgbClr val="2E7D5B"/>
                </a:solidFill>
                <a:latin typeface="Arial"/>
              </a:defRPr>
            </a:pPr>
            <a:r>
              <a:t>COLLECT  →  VERIFY &amp; DELIVER  →  UNDERSTAND</a:t>
            </a:r>
          </a:p>
        </p:txBody>
      </p:sp>
      <p:sp>
        <p:nvSpPr>
          <p:cNvPr id="6" name="TextBox 5"/>
          <p:cNvSpPr txBox="1"/>
          <p:nvPr/>
        </p:nvSpPr>
        <p:spPr>
          <a:xfrm>
            <a:off x="804672" y="7699248"/>
            <a:ext cx="11887200" cy="274320"/>
          </a:xfrm>
          <a:prstGeom prst="rect">
            <a:avLst/>
          </a:prstGeom>
          <a:noFill/>
        </p:spPr>
        <p:txBody>
          <a:bodyPr wrap="square">
            <a:spAutoFit/>
          </a:bodyPr>
          <a:lstStyle/>
          <a:p>
            <a:pPr>
              <a:defRPr sz="1100" b="0">
                <a:solidFill>
                  <a:srgbClr val="5D655F"/>
                </a:solidFill>
                <a:latin typeface="Arial"/>
              </a:defRPr>
            </a:pPr>
            <a:r>
              <a:t>Sources: DEMO · CONTRACT   |   AIMSIGH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Aimsigh | Goodwill Michiana</dc:title>
  <dc:subject>15-minute local synthetic reporting showcase</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